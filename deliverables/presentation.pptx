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8" r:id="rId2"/>
    <p:sldId id="257" r:id="rId3"/>
    <p:sldId id="259" r:id="rId4"/>
    <p:sldId id="280" r:id="rId5"/>
    <p:sldId id="284" r:id="rId6"/>
    <p:sldId id="281" r:id="rId7"/>
    <p:sldId id="282" r:id="rId8"/>
    <p:sldId id="283" r:id="rId9"/>
    <p:sldId id="285" r:id="rId10"/>
    <p:sldId id="286" r:id="rId11"/>
    <p:sldId id="288" r:id="rId12"/>
    <p:sldId id="290" r:id="rId13"/>
    <p:sldId id="287" r:id="rId14"/>
    <p:sldId id="289" r:id="rId15"/>
    <p:sldId id="291" r:id="rId16"/>
    <p:sldId id="292" r:id="rId17"/>
    <p:sldId id="293" r:id="rId18"/>
    <p:sldId id="294" r:id="rId19"/>
    <p:sldId id="295" r:id="rId20"/>
    <p:sldId id="296" r:id="rId21"/>
    <p:sldId id="306" r:id="rId22"/>
    <p:sldId id="300" r:id="rId23"/>
    <p:sldId id="303" r:id="rId24"/>
    <p:sldId id="301" r:id="rId25"/>
    <p:sldId id="302" r:id="rId26"/>
    <p:sldId id="304" r:id="rId27"/>
    <p:sldId id="305" r:id="rId28"/>
    <p:sldId id="269" r:id="rId2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8196"/>
    <a:srgbClr val="1B3C6A"/>
    <a:srgbClr val="1A3C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FE53A-09A0-44D4-B929-E8069082C630}" v="40" dt="2026-01-18T20:17:51.2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Stile chiaro 3 - Color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Stile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9791" autoAdjust="0"/>
  </p:normalViewPr>
  <p:slideViewPr>
    <p:cSldViewPr snapToGrid="0">
      <p:cViewPr varScale="1">
        <p:scale>
          <a:sx n="49" d="100"/>
          <a:sy n="49" d="100"/>
        </p:scale>
        <p:origin x="1973" y="53"/>
      </p:cViewPr>
      <p:guideLst>
        <p:guide orient="horz" pos="2880"/>
        <p:guide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604F21-9B18-4DE1-AB54-6E38A9691DB2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9A3EF-1CD3-4928-B014-184E8B8B843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040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progetto dal titolo «Segmentazione di Tumori Cerebrali in Immagini MRI», indaga la segmentazione automatica di tumori cerebrali in immagini di risonanza magnetica, confrontando un approccio </a:t>
            </a:r>
            <a:r>
              <a:rPr lang="it-IT" dirty="0" err="1"/>
              <a:t>monomodale</a:t>
            </a:r>
            <a:r>
              <a:rPr lang="it-IT" dirty="0"/>
              <a:t>, con singole sequenze MRI, rispetto a un approccio multimodale, mediante la fusione di più sequenze MRI prima dell’elaborazione.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14440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problema di partenza è che la segmentazione manuale dei tumori cerebrali è un processo lento, soggettivo e variabile. Inoltre, i gliomi possono presentare bordi sfumati e basso contrasto, complicando l’identificazione dell’area tumorale.</a:t>
            </a:r>
          </a:p>
          <a:p>
            <a:r>
              <a:rPr lang="it-IT" dirty="0"/>
              <a:t>Per tale motivo è stata sviluppata una pipeline automatica in MATLAB per segmentare in modo binario il tessuto sano e la lesione tumorale in immagini bidimensionali.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905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primo obiettivo del progetto è implementare in MATLAB una pipeline automatica di segmentazione binaria 2D dei tumori cerebrali, utilizzando tecniche tradizionali di Image Processing anziché modelli di Machine Learning e Deep Learning.</a:t>
            </a:r>
          </a:p>
          <a:p>
            <a:r>
              <a:rPr lang="it-IT" dirty="0"/>
              <a:t>Il secondo è confrontare approcci </a:t>
            </a:r>
            <a:r>
              <a:rPr lang="it-IT" dirty="0" err="1"/>
              <a:t>monomodali</a:t>
            </a:r>
            <a:r>
              <a:rPr lang="it-IT" dirty="0"/>
              <a:t> e multimodali, valutando eventuali miglioramenti nella segmentazione.</a:t>
            </a:r>
          </a:p>
          <a:p>
            <a:r>
              <a:rPr lang="it-IT" dirty="0"/>
              <a:t>Il terzo obiettivo è valutare quantitativamente l’impatto delle diverse configurazioni di input, attraverso metriche come Dice Score, Sensitivity e Precision.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18430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AAF8-3066-173C-9195-FE66414E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F5ACEF4-A027-A0E0-BCE0-D5F99FBAA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B60414-65A8-0532-96A5-1967CEFB5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Per l’analisi è stato usato il dataset </a:t>
            </a:r>
            <a:r>
              <a:rPr lang="it-IT" dirty="0" err="1"/>
              <a:t>BraTS</a:t>
            </a:r>
            <a:r>
              <a:rPr lang="it-IT" dirty="0"/>
              <a:t> della </a:t>
            </a:r>
            <a:r>
              <a:rPr lang="it-IT" dirty="0" err="1"/>
              <a:t>Medical</a:t>
            </a:r>
            <a:r>
              <a:rPr lang="it-IT" dirty="0"/>
              <a:t> </a:t>
            </a:r>
            <a:r>
              <a:rPr lang="it-IT" dirty="0" err="1"/>
              <a:t>Segmentation</a:t>
            </a:r>
            <a:r>
              <a:rPr lang="it-IT" dirty="0"/>
              <a:t> Decathlon, in particolare il task Brain </a:t>
            </a:r>
            <a:r>
              <a:rPr lang="it-IT" dirty="0" err="1"/>
              <a:t>Tumor</a:t>
            </a:r>
            <a:r>
              <a:rPr lang="it-IT" dirty="0"/>
              <a:t>, che è un riferimento standard per la segmentazione di tumori cerebrali. Sono stati utilizzati esclusivamente i dati annotati del training set, cioè i volumi MRI e le ground truth manuali, in modo da poter confrontare direttamente i risultati della pipeline con le label dei medici.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dataset comprende 484 pazienti, ciascuno con quattro sequenze MRI e relativa maschera target.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2048237-9023-D109-2F7A-349B6614C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657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5857-871A-A35E-8913-B84C9A7E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E6163A7-D941-ED01-6900-7AFA06AE08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08FB68-800E-C368-5F11-E6E6663F1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sequenza FLAIR sopprime il segnale del liquido cerebrospinale e rende più evidenti le anomalie nel parenchima cerebrale.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È molto importante perché mette bene in risalto l’edema </a:t>
            </a:r>
            <a:r>
              <a:rPr lang="it-IT" dirty="0" err="1"/>
              <a:t>peritumorale</a:t>
            </a:r>
            <a:r>
              <a:rPr lang="it-IT" dirty="0"/>
              <a:t> e quindi l’estensione complessiva della lesione.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106C41-8DE8-49EF-9C7E-3FBF8439B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50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1460-95A6-8426-1033-5144F2576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198280A-1C86-29B1-FE76-B369F7835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EDE22AC-887A-E8C5-77E5-306AB3C0C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T1 è utile soprattutto per l’anatomia generale del cervello, poiché distingue bene sostanza grigia, sostanza bianca e liquido cerebrospinale.</a:t>
            </a:r>
          </a:p>
          <a:p>
            <a:r>
              <a:rPr lang="it-IT" dirty="0"/>
              <a:t>Tuttavia, da sola è poco sensibile al tumore, in quanto molte lesioni hanno intensità simili ai tessuti circostanti.</a:t>
            </a:r>
          </a:p>
          <a:p>
            <a:r>
              <a:rPr lang="it-IT" dirty="0"/>
              <a:t>Per questo nella pipeline questa sequenza non viene usata nella fusione multimodale, ma solo come riferimento visivo nelle figure di confronto.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D607CB4-F8B7-6EFE-238D-CB35FB6EF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057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C43B2-910F-7912-A871-86EE5D7E3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7591A98-0405-E5B0-ED92-343557FFA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7E9F506-403E-1829-2DD6-BD8639931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T1 con contrasto evidenzia bene la componente tumorale attiva, detta </a:t>
            </a:r>
            <a:r>
              <a:rPr lang="it-IT" dirty="0" err="1"/>
              <a:t>enhancing</a:t>
            </a:r>
            <a:r>
              <a:rPr lang="it-IT" dirty="0"/>
              <a:t>, grazie alla somministrazione di gadolinio nel paziente.</a:t>
            </a:r>
          </a:p>
          <a:p>
            <a:r>
              <a:rPr lang="it-IT" dirty="0"/>
              <a:t>Il limite è che non rappresenta bene l’estensione totale del tumore, ma solo la sua porzione più attiva e più centrale.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C7103D-90DE-F9C2-B9FE-54CCDFAFB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1423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916B8-8DF2-A25A-05B7-8765B157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E88AC62-C91B-8DE3-3D71-3DB605956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20BC1F-C5B6-C65B-C852-6244120D6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T2 è sensibile al contenuto d’acqua, quindi mette in evidenza edema e altre regioni </a:t>
            </a:r>
            <a:r>
              <a:rPr lang="it-IT" dirty="0" err="1"/>
              <a:t>iperintense</a:t>
            </a:r>
            <a:r>
              <a:rPr lang="it-IT" dirty="0"/>
              <a:t>. È utile per descrivere l’area patologica, ma è meno specifica delle componenti tumorali rispetto alla T1c.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EF37B6-83DF-2B94-27A5-60D8355103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4662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3C678-A9D5-F696-CC15-20F2460E2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E06A167-0B09-BD9D-59B6-EBF7E83865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26B08AA-3934-81DB-04D1-5FC42EF73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Questa slide riassume la struttura complessiva della pipeline.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flusso è composto da cinque fasi, tra cu EDA opzionale, </a:t>
            </a:r>
            <a:r>
              <a:rPr lang="it-IT" dirty="0" err="1"/>
              <a:t>pre</a:t>
            </a:r>
            <a:r>
              <a:rPr lang="it-IT" dirty="0"/>
              <a:t>-processing, segmentazione, post-processing e valutazione finale delle prestazioni.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L’idea è partire da una preparazione robusta delle immagini, eseguire una segmentazione a cascata con tre metodi classici, rifinire morfologicamente il risultato e infine confrontarlo con la ground truth.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pipeline è stata implementata in modo modulare in MATLAB con script e funzioni separate. Nello specifico, l’algoritmo del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è stato implementato from scratch.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5129B-8A22-442C-41BD-0FAB02E64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6116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3C42A-5CDA-FC9D-BB24-0283FCCB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5D9B844-2D91-5E65-7ABD-77DED2BA0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39461BD-2734-000F-A3BA-3389B5BE9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Prima di costruire la pipeline finale, è stata svolta una fase esplorativa sul paziente BRATS_218 per confrontare le diverse sequenze.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Questa fase serve per osservare come cambiano distribuzioni di intensità, contrasto visivo e rappresentazione della lesione nelle varie modalità.</a:t>
            </a:r>
          </a:p>
          <a:p>
            <a:r>
              <a:rPr lang="it-IT" dirty="0"/>
              <a:t>In particolare, vengono confrontate le sequenze originali e i relativi istogrammi delle intensità all’interno della ROI cerebrale.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2D596DA-1DA7-C6D5-CB65-77344278F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51091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2B526-B217-698D-3909-5A2CEBB2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59BBE2-26C9-3047-3198-BDE0F91D8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DB05734-0EEC-3E26-1E64-ACC0F8DE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Inoltre, è stato testato il miglioramento del contrasto con CLAHE (</a:t>
            </a:r>
            <a:r>
              <a:rPr lang="it-IT" dirty="0" err="1"/>
              <a:t>Contrast</a:t>
            </a:r>
            <a:r>
              <a:rPr lang="it-IT" dirty="0"/>
              <a:t> Limited </a:t>
            </a:r>
            <a:r>
              <a:rPr lang="it-IT" dirty="0" err="1"/>
              <a:t>Adaptive</a:t>
            </a:r>
            <a:r>
              <a:rPr lang="it-IT" dirty="0"/>
              <a:t> </a:t>
            </a:r>
            <a:r>
              <a:rPr lang="it-IT" dirty="0" err="1"/>
              <a:t>Histogram</a:t>
            </a:r>
            <a:r>
              <a:rPr lang="it-IT" dirty="0"/>
              <a:t> </a:t>
            </a:r>
            <a:r>
              <a:rPr lang="it-IT" dirty="0" err="1"/>
              <a:t>Equalization</a:t>
            </a:r>
            <a:r>
              <a:rPr lang="it-IT" dirty="0"/>
              <a:t>) per verificare se potesse favorire la segmentazione.</a:t>
            </a:r>
          </a:p>
          <a:p>
            <a:r>
              <a:rPr lang="it-IT" dirty="0"/>
              <a:t>Visivamente il contrasto migliora e gli istogrammi risultano più distribuiti, ma sperimentalmente questo passaggio ha introdotto artefatti che peggioravano la segmentazione, quindi non è stato incluso nella pipeline finale.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DCE0664-5BA7-3B8E-1BCA-E7DE7BD06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5310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5C4C5-E598-64F3-E696-194C8AF1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7AD7FB-B903-F280-5BE1-1BE831AF0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14B360F-22CB-1C4F-34D7-7CEC3F6F2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Nella stessa fase è stato rappresentato il volume in 3D per comprendere meglio la reale localizzazione e l’estensione della lesione.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DCFCB2-5FFB-130C-B2A4-62DE788B6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0257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425A-E721-4CB9-7B3B-CFB150F0C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DA34134-76FF-D32B-5906-234443882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47A871D-FE79-0EEA-6EAE-0C8EEF1B3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pipeline lavora in 2D, quindi per ogni paziente viene selezionata automaticamente la slice più significativa.</a:t>
            </a:r>
          </a:p>
          <a:p>
            <a:r>
              <a:rPr lang="it-IT" dirty="0"/>
              <a:t>Il criterio consiste nello scegliere la slice con massima estensione tumorale nella ground truth, portando il problema da 3D a 2D.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9EECF8-ACE2-91E8-9FB6-0CD25D0A1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2966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F8E3-35E8-6133-53F7-AE59BF38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9F24AE5-933D-AA35-88CF-10530FF138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79400F-5B5A-77A0-BA19-F3AF697A2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Dopo aver selezionato la slice, si applica una normalizzazione Z-score all’interno della ROI cerebrale per rendere confrontabili le intensità tra pazienti e tra sequenze, riducendo la variabilità globale non informativa.</a:t>
            </a:r>
          </a:p>
          <a:p>
            <a:r>
              <a:rPr lang="it-IT" dirty="0"/>
              <a:t>I pixel fuori dalla ROI vengono azzerati e infine l’immagine viene rimappata nell’intervallo [0,1].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6774CA-13DF-5989-9CC9-98F6993DF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5937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0A46-36D9-2178-FBDD-01C036CF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31666E-D268-2FED-3FEC-8E01E96A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333464F-35F2-30F9-54AC-01F56ACF1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Successivamente viene applicato un filtro mediano 3x3.</a:t>
            </a:r>
          </a:p>
          <a:p>
            <a:r>
              <a:rPr lang="it-IT" dirty="0"/>
              <a:t>Il filtro mediano è un filtro non lineare che riduce il rumore locale preservando meglio i bordi rispetto a un filtraggio medio lineare. In un problema come questo è importante non sfumare eccessivamente i contorni della lesione, perché i passaggi successivi dipendono molto dalla distribuzione locale delle intensità.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8CB013-C5BD-72F3-6AB1-3E18CAECA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819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87D88-B870-0C64-B1CE-6891EC88A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5DFA5B-C9ED-6335-15C1-0C4D6DF72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08DF71-C387-3EA5-DEF4-2AD14973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In questa fase vengono costruite due rappresentazioni multimodali. Fusion2 combina FLAIR e T1c, mentre Fusion3 combina FLAIR, T1c e T2 con pesi scelti empiricamente, dando maggiore importanza a FLAIR perché rappresenta meglio l’estensione complessiva della lesione, utile in questo contesto di segmentazione binaria. Lo scopo della fusione è integrare informazioni complementari, ovvero FLAIR per estensione ed edema, T1c per componente attiva, T2 per localizzazione patologica e contenuto acquoso.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BFB249-CFF4-00B3-9D92-3B0E5C332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89057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4695F-1300-CA14-7080-E874C6CF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C87792-B233-38CB-4E93-3FADA377B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77AE5D-A71A-6A4B-7E01-07A7776F1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Dalla Fusion3 si costruisce la </a:t>
            </a:r>
            <a:r>
              <a:rPr lang="it-IT" dirty="0" err="1"/>
              <a:t>seed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applicando una sfocatura gaussiana con sigma uguale a 3, scelto sperimentalmente come descritto nel report, graficando l’andamento del Dice Score al variare del parametro.</a:t>
            </a:r>
          </a:p>
          <a:p>
            <a:r>
              <a:rPr lang="it-IT" dirty="0"/>
              <a:t>L’obiettivo è individuare una mappa di possibili semi iniziali da cui far partire il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. In pratica, la sfocatura smussa le variazioni locali e mette in evidenza la zona globalmente più intensa.</a:t>
            </a:r>
          </a:p>
          <a:p>
            <a:r>
              <a:rPr lang="it-IT" dirty="0"/>
              <a:t>Il seme iniziale viene poi scelto come massimo della </a:t>
            </a:r>
            <a:r>
              <a:rPr lang="it-IT" dirty="0" err="1"/>
              <a:t>seed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B48783-3C99-A4B3-9094-2FB7F77DE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70690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B11A-6E50-6F05-715D-DBD63805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03777A5-192F-4564-3EFB-4B7D3B263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C4A26E-0B4D-3F32-0D21-318C23C04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primo passo è la </a:t>
            </a:r>
            <a:r>
              <a:rPr lang="it-IT" dirty="0" err="1"/>
              <a:t>sogliatura</a:t>
            </a:r>
            <a:r>
              <a:rPr lang="it-IT" dirty="0"/>
              <a:t> multilivello basata sul metodo di Otsu. In particolare sono usate due soglie, quindi l’immagine è divisa in tre classi di intensità e viene selezionata la classe a intensità più alta.</a:t>
            </a:r>
          </a:p>
          <a:p>
            <a:r>
              <a:rPr lang="it-IT" dirty="0"/>
              <a:t>Questo processo fornisce una prima maschera delle regioni candidate e i marker da utilizzare per limitare il </a:t>
            </a:r>
            <a:r>
              <a:rPr lang="it-IT" dirty="0" err="1"/>
              <a:t>Watershed</a:t>
            </a:r>
            <a:r>
              <a:rPr lang="it-IT" dirty="0"/>
              <a:t>.</a:t>
            </a:r>
          </a:p>
          <a:p>
            <a:r>
              <a:rPr lang="it-IT" dirty="0"/>
              <a:t>Otsu individua automaticamente tali zone massimizzando la separazione inter-classe e minimizzando quella intra-classe iterativamente nell’istogramma.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9FFB2E-BC29-2628-EC5B-B27EF8EBFF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2872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6CE56-911F-153A-3C6B-6118E122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2703DC3-4993-06EF-BEB7-5664503A08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5D16AA4-659A-061C-1883-89B9BDF96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 partire dal seme automatico estratto dalla </a:t>
            </a:r>
            <a:r>
              <a:rPr lang="it-IT" dirty="0" err="1"/>
              <a:t>seed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viene applicato un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con connettività a 8 vicini di adiacenza.</a:t>
            </a:r>
          </a:p>
          <a:p>
            <a:r>
              <a:rPr lang="it-IT" dirty="0"/>
              <a:t>La crescita non usa una soglia fissa, ma una soglia dinamica calcolata come sesto percentile delle intensità dei pixel appartenenti alla maschera di Otsu.</a:t>
            </a:r>
          </a:p>
          <a:p>
            <a:r>
              <a:rPr lang="it-IT" dirty="0"/>
              <a:t>Questa scelta rende il criterio più robusto al singolo paziente, perché la soglia dipende dalla distribuzione effettiva delle intensità nella regione candidata. </a:t>
            </a:r>
          </a:p>
          <a:p>
            <a:r>
              <a:rPr lang="it-IT" dirty="0"/>
              <a:t>Il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viene eseguito espandendo la regione a partire dal seme e, una volta terminato, viene selezionata la componente connessa più pertinente, riducendo la frammentazione e limitando le regioni spurie.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A116EB-A7E1-A8A3-CB68-493FD2D7A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8656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DB501-8CF5-67AD-0B3C-9952DE98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5D56BCC-11B1-CC90-B489-0F448A4C5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2099DD-6762-1AF1-ABDB-942B5C388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Dopo il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viene applicato un Marker-</a:t>
            </a:r>
            <a:r>
              <a:rPr lang="it-IT" dirty="0" err="1"/>
              <a:t>Controlled</a:t>
            </a:r>
            <a:r>
              <a:rPr lang="it-IT" dirty="0"/>
              <a:t> </a:t>
            </a:r>
            <a:r>
              <a:rPr lang="it-IT" dirty="0" err="1"/>
              <a:t>Watershed</a:t>
            </a:r>
            <a:r>
              <a:rPr lang="it-IT" dirty="0"/>
              <a:t> per rifinire il contorno della regione ottenuta.</a:t>
            </a:r>
          </a:p>
          <a:p>
            <a:r>
              <a:rPr lang="it-IT" dirty="0"/>
              <a:t>La superficie topografica è costruita a partire dalla maschera del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Growing</a:t>
            </a:r>
            <a:r>
              <a:rPr lang="it-IT" dirty="0"/>
              <a:t> mediante la trasformata di distanza inversa, mentre i marker imposti derivano dalla maschera iniziale di Otsu.</a:t>
            </a:r>
          </a:p>
          <a:p>
            <a:r>
              <a:rPr lang="it-IT" dirty="0"/>
              <a:t>Viene dunque ottenuta una maschera finale rifinita rispetto alle precedenti, che sarà sottoposta a una fase di post-processing.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11E3B7E-7A08-5632-A309-4F56999A3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51913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Dopo la segmentazione, il post-processing morfologico consente di rifinire la maschera ottenuta.</a:t>
            </a:r>
          </a:p>
          <a:p>
            <a:r>
              <a:rPr lang="it-IT" dirty="0"/>
              <a:t>In particolare, viene eseguita la chiusura morfologica con elemento strutturante circolare di raggio 3, che serve a regolarizzare i bordi e a chiudere piccole discontinuità nel contorno della lesione.</a:t>
            </a:r>
          </a:p>
          <a:p>
            <a:r>
              <a:rPr lang="it-IT" dirty="0"/>
              <a:t>La seconda è il riempimento delle cavità interne, utile per eliminare piccoli buchi presenti nella maschera segmentata.</a:t>
            </a:r>
          </a:p>
          <a:p>
            <a:r>
              <a:rPr lang="it-IT" dirty="0"/>
              <a:t>La terza è la selezione della componente connessa principale, che consente eventualmente di mantenere solo la regione di area maggiore.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21134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25413-D8E9-1D5C-DEE6-6F45E387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A810E83-035B-2E6E-CC4F-1ED14E98C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B6255DD-74B2-88E7-A642-EF7157041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 risultati numerici sono stati ottenuti valutando i TP, FP ed FN e combinandoli con le definizioni delle metriche Dice Score, Sensitivity, Precision.</a:t>
            </a:r>
          </a:p>
          <a:p>
            <a:r>
              <a:rPr lang="it-IT" dirty="0"/>
              <a:t>Il Dice Score misura la sovrapposizione tra la segmentazione e la ground truth in maniera affidabile, in quanto valuta tutte le tipologie di predizioni. La sensibilità indica quanto è abile la pipeline nell’individuare i casi positivi tra tutti i positivi reali, mentre la Precision misura la capacità di riconoscere i casi positivi tra tutti quelli individuati.</a:t>
            </a:r>
          </a:p>
          <a:p>
            <a:r>
              <a:rPr lang="it-IT" dirty="0"/>
              <a:t>Su tutto il dataset, la configurazione migliore è Fusion3, con Dice medio pari a 0.806, Sensitivity 0.744 e Precision 0.935.</a:t>
            </a:r>
          </a:p>
          <a:p>
            <a:r>
              <a:rPr lang="it-IT" dirty="0"/>
              <a:t>FLAIR è la migliore modalità singola, con prestazioni buone soprattutto in termini di estensione rilevata, mentre T1c, pur avendo una precisione elevata, risulta spesso incompleta, perché tende a catturare la sola parte attiva della lesione e non la sua estensione complessiva.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E6DB2-B11C-E3D1-B74C-CD8A208D2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887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79796-ACCB-728A-1647-7CC36A813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487A57-4AD7-5EFA-DCA4-D263AB7CF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D61D916-5972-DE0C-BE09-7879302E0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Oltre alle metriche aggregate, sono stati analizzati anche i casi più rappresentativi per capire quando la multimodalità aiuta davvero e quando invece la pipeline va in difficoltà.</a:t>
            </a:r>
          </a:p>
          <a:p>
            <a:r>
              <a:rPr lang="it-IT" dirty="0"/>
              <a:t>Questo è importante perché i valori medi non sono gli unici da considerare, in quanto esistono casi molto buoni, ma anche pazienti in cui la pipeline fallisce.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87FA1B-F5AC-D180-4660-9DAD4B0DA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33389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3DF-E9F3-E60B-A848-9C4EEDC68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047BBF-6107-C435-F9A4-2F944FECC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1D7D3AA-0484-BE32-860C-4799831FB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Nei casi migliori, come BRATS_128 e BRATS_248, si osservano due situazioni interessanti.</a:t>
            </a:r>
          </a:p>
          <a:p>
            <a:r>
              <a:rPr lang="it-IT" dirty="0"/>
              <a:t>Nel primo caso, Fusion3 beneficia delle informazioni multimodali e ottiene il miglior Dice Score.</a:t>
            </a:r>
          </a:p>
          <a:p>
            <a:r>
              <a:rPr lang="it-IT" dirty="0"/>
              <a:t>Nel secondo, invece, FLAIR da sola è già molto informativa e la fusione mantiene comunque un risultato elevato.</a:t>
            </a:r>
          </a:p>
          <a:p>
            <a:r>
              <a:rPr lang="it-IT" dirty="0"/>
              <a:t>Questo mostra che la multimodalità può essere utile, ma quando una singola modalità è già molto rappresentativa, il guadagno aggiuntivo è più contenuto.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F85214F-FF84-2FD8-45F9-6B79BC595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82778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3CC55-2069-7ED4-BD68-4BA54460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8FC5D7-73BF-117D-7718-C39EF350D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0819B5-8C41-E89A-67F5-36105B99F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Nei casi peggiori emergono i limiti della pipeline. In BRATS_140, ad esempio, Fusion2 fornisce un risultato discretamente utile mentre Fusion3 fallisce, segno che l’aggiunta di una modalità non sempre migliora la rappresentazione.</a:t>
            </a:r>
          </a:p>
          <a:p>
            <a:r>
              <a:rPr lang="it-IT" dirty="0"/>
              <a:t>In BRATS_380 si osserva invece un fallimento completo in tutte le configurazioni.</a:t>
            </a:r>
          </a:p>
          <a:p>
            <a:r>
              <a:rPr lang="it-IT" dirty="0"/>
              <a:t>Questo conferma che l’approccio è sensibile a lesioni poco contrastate, poco compatte o non ben rappresentate dalle modalità considerate.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96E430C-237E-3B67-ED4F-AE33E5BA4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78828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465-D921-411A-D5C8-8DFD9B0B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BAB6F44-6F84-9097-88F8-A6C71BE91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2A872EA-DB76-E5D9-CABC-48DCE3A77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In conclusione, il progetto mostra che Fusion3 è la configurazione con le migliori prestazioni medie complessive, mentre FLAIR è la sequenza singola più informativa.</a:t>
            </a:r>
          </a:p>
          <a:p>
            <a:r>
              <a:rPr lang="it-IT" dirty="0"/>
              <a:t>L’integrazione multimodale migliora mediamente la segmentazione, ma resta soggetta a fallimenti in casi critici.</a:t>
            </a:r>
          </a:p>
          <a:p>
            <a:r>
              <a:rPr lang="it-IT" dirty="0"/>
              <a:t>Il lavoro conferma anche che tecniche classiche di Image Processing, se ben combinate e interpretate, possono ancora fornire risultati significativi in un problema complesso, pur senza la flessibilità dei metodi di Deep Learning.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B2174C-25BB-01F1-70A5-09B1A583F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81690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8B62B-CEC0-8D5A-4F2E-B88B4221B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9AA620-F835-ACAA-A70A-EEF5935E1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4F036B5-497E-E96E-E955-BDDD4AA10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Come sviluppi futuri si potrebbe estendere la pipeline 2D a una 3D, in modo da sfruttare la continuità volumetrica della lesione.</a:t>
            </a:r>
          </a:p>
          <a:p>
            <a:r>
              <a:rPr lang="it-IT" dirty="0"/>
              <a:t>Un secondo sviluppo riguarda strategie di fusione multimodale più avanzate rispetto alla combinazione lineare pesata.</a:t>
            </a:r>
          </a:p>
          <a:p>
            <a:r>
              <a:rPr lang="it-IT" dirty="0"/>
              <a:t>Inoltre sarebbe interessante confrontare questa pipeline con altri approcci classici, come K-Means o metodi </a:t>
            </a:r>
            <a:r>
              <a:rPr lang="it-IT" dirty="0" err="1"/>
              <a:t>edge-based</a:t>
            </a:r>
            <a:r>
              <a:rPr lang="it-IT" dirty="0"/>
              <a:t>, e infine integrare il confronto con tecniche di Machine Learning e Deep Learning.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9B84A1A-73C8-8F35-8F09-A6A6DAA14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54193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0055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0223" y="311336"/>
            <a:ext cx="4325963" cy="67924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73693" y="150441"/>
            <a:ext cx="2906776" cy="99484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9115" y="139509"/>
            <a:ext cx="2290445" cy="98723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0679" y="244551"/>
            <a:ext cx="8971280" cy="940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0679" y="2143709"/>
            <a:ext cx="540702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551921" y="6503246"/>
            <a:ext cx="1532890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17490" y="6513000"/>
            <a:ext cx="2557145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4295F-58E4-0812-6E92-299E7EE9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6A980E5-AA13-5FFD-9054-C9D95612D6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5D19251-AFED-A1A7-3C36-46CA429AA2CA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DBD99A0D-FE52-8B89-133B-B7BA269B3E4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DA3B0D-999D-A943-3040-B696143029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36012D0-2B51-9377-95A2-D6926BC7DAE7}"/>
              </a:ext>
            </a:extLst>
          </p:cNvPr>
          <p:cNvSpPr txBox="1"/>
          <p:nvPr/>
        </p:nvSpPr>
        <p:spPr>
          <a:xfrm>
            <a:off x="3402792" y="1887228"/>
            <a:ext cx="53864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2800" dirty="0">
                <a:solidFill>
                  <a:schemeClr val="tx1"/>
                </a:solidFill>
                <a:latin typeface="Aptos" panose="020B0004020202020204" pitchFamily="34" charset="0"/>
              </a:rPr>
              <a:t>Tema d’Anno in Image Processing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6280421-BFF3-F590-C790-F842B68259D0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602A5-1867-86CD-C745-E827FB4624A9}"/>
              </a:ext>
            </a:extLst>
          </p:cNvPr>
          <p:cNvSpPr txBox="1"/>
          <p:nvPr/>
        </p:nvSpPr>
        <p:spPr>
          <a:xfrm>
            <a:off x="1851659" y="2643809"/>
            <a:ext cx="84886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b="1" dirty="0"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BB2BC8-9DC2-8DC8-6A5D-C2C9C777B6E6}"/>
              </a:ext>
            </a:extLst>
          </p:cNvPr>
          <p:cNvSpPr txBox="1"/>
          <p:nvPr/>
        </p:nvSpPr>
        <p:spPr>
          <a:xfrm>
            <a:off x="944879" y="3866330"/>
            <a:ext cx="10302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Analisi Comparativa tra Approccio </a:t>
            </a:r>
            <a:r>
              <a:rPr lang="it-IT" sz="2800" dirty="0" err="1">
                <a:latin typeface="Aptos" panose="020B0004020202020204" pitchFamily="34" charset="0"/>
              </a:rPr>
              <a:t>Monomodale</a:t>
            </a:r>
            <a:r>
              <a:rPr lang="it-IT" sz="2800" dirty="0">
                <a:latin typeface="Aptos" panose="020B0004020202020204" pitchFamily="34" charset="0"/>
              </a:rPr>
              <a:t> e Multimodale</a:t>
            </a:r>
            <a:endParaRPr lang="en-US" sz="2800" dirty="0">
              <a:latin typeface="Aptos" panose="020B00040202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54D679-D22A-5AB2-F951-4013E483763F}"/>
              </a:ext>
            </a:extLst>
          </p:cNvPr>
          <p:cNvSpPr txBox="1"/>
          <p:nvPr/>
        </p:nvSpPr>
        <p:spPr>
          <a:xfrm>
            <a:off x="8473603" y="4950443"/>
            <a:ext cx="277351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Studente: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Roberto Carriero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815B8B-2A81-8CC3-FBB7-F00F7F512C4A}"/>
              </a:ext>
            </a:extLst>
          </p:cNvPr>
          <p:cNvSpPr txBox="1"/>
          <p:nvPr/>
        </p:nvSpPr>
        <p:spPr>
          <a:xfrm>
            <a:off x="1036319" y="4950443"/>
            <a:ext cx="42979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Docente: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Prof. Ing. Andrea Guerriero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06B02FA-28BE-5CE9-0BED-211A68181E37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Corso di Laurea Magistrale in Ingegneria Informatica – </a:t>
            </a:r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Artificial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Intelligence and Data Science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9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8" name="Picture 12" descr="Brain Tumour Symptoms | Brain Tumour Research">
            <a:extLst>
              <a:ext uri="{FF2B5EF4-FFF2-40B4-BE49-F238E27FC236}">
                <a16:creationId xmlns:a16="http://schemas.microsoft.com/office/drawing/2014/main" id="{2F8D6092-5086-53B5-C71F-035499E86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950" y="3813779"/>
            <a:ext cx="4171180" cy="237745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6BBE9099-5CDD-3007-1210-B543A3A8E00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BD870F1-AEB6-F68B-D98F-589DE7126AB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DA979EE0-288E-6566-E518-4C99150B0A6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BA55FC4-151F-27B2-172B-5CD5332FE2A5}"/>
              </a:ext>
            </a:extLst>
          </p:cNvPr>
          <p:cNvSpPr txBox="1"/>
          <p:nvPr/>
        </p:nvSpPr>
        <p:spPr>
          <a:xfrm>
            <a:off x="11733140" y="6480829"/>
            <a:ext cx="30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A47F04-4709-7E4F-5150-AC3A593ED5A3}"/>
              </a:ext>
            </a:extLst>
          </p:cNvPr>
          <p:cNvSpPr txBox="1"/>
          <p:nvPr/>
        </p:nvSpPr>
        <p:spPr>
          <a:xfrm>
            <a:off x="609600" y="381000"/>
            <a:ext cx="81884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Contesto e Motivazioni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E877240-2B0A-8841-50EC-13E979DD0AF6}"/>
              </a:ext>
            </a:extLst>
          </p:cNvPr>
          <p:cNvSpPr txBox="1"/>
          <p:nvPr/>
        </p:nvSpPr>
        <p:spPr>
          <a:xfrm>
            <a:off x="689610" y="1397664"/>
            <a:ext cx="81884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Problema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Segmentazione </a:t>
            </a:r>
            <a:r>
              <a:rPr lang="it-IT" sz="2800" b="1" dirty="0">
                <a:latin typeface="Aptos" panose="020B0004020202020204" pitchFamily="34" charset="0"/>
              </a:rPr>
              <a:t>manuale</a:t>
            </a:r>
            <a:r>
              <a:rPr lang="it-IT" sz="2800" dirty="0">
                <a:latin typeface="Aptos" panose="020B0004020202020204" pitchFamily="34" charset="0"/>
              </a:rPr>
              <a:t> del tumore lenta e soggettiva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Bordi dei gliomi spesso sfumati e con </a:t>
            </a:r>
            <a:r>
              <a:rPr lang="it-IT" sz="2800" b="1" dirty="0">
                <a:latin typeface="Aptos" panose="020B0004020202020204" pitchFamily="34" charset="0"/>
              </a:rPr>
              <a:t>basso contrasto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074E69-8CB9-E4C5-E3B9-D414BCAA202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BA71CCA-5E30-017D-2448-08A25D9B6BCE}"/>
              </a:ext>
            </a:extLst>
          </p:cNvPr>
          <p:cNvSpPr txBox="1"/>
          <p:nvPr/>
        </p:nvSpPr>
        <p:spPr>
          <a:xfrm>
            <a:off x="4897028" y="4146951"/>
            <a:ext cx="69284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Soluzione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Pipeline automatica </a:t>
            </a:r>
            <a:r>
              <a:rPr lang="it-IT" sz="2800" dirty="0">
                <a:latin typeface="Aptos" panose="020B0004020202020204" pitchFamily="34" charset="0"/>
              </a:rPr>
              <a:t>che migliora il rilevamento dell’area tumorale e assiste i medici nelle decisioni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E08CF0FF-55E8-1161-9C62-9C5AC5AEC0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6377" y="1933672"/>
            <a:ext cx="2377453" cy="23774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674C1DB-7385-E2A7-7609-0065A8C4F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B248CF0-AFA9-1996-D476-CD38B2F1ACDF}"/>
              </a:ext>
            </a:extLst>
          </p:cNvPr>
          <p:cNvSpPr txBox="1"/>
          <p:nvPr/>
        </p:nvSpPr>
        <p:spPr>
          <a:xfrm>
            <a:off x="609600" y="1588393"/>
            <a:ext cx="10807065" cy="461664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Implementare in MATLAB una pipeline 2D per la </a:t>
            </a:r>
            <a:r>
              <a:rPr lang="it-IT" sz="2800" b="1" dirty="0">
                <a:latin typeface="Aptos" panose="020B0004020202020204" pitchFamily="34" charset="0"/>
              </a:rPr>
              <a:t>segmentazione binaria</a:t>
            </a:r>
            <a:r>
              <a:rPr lang="it-IT" sz="2800" dirty="0">
                <a:latin typeface="Aptos" panose="020B0004020202020204" pitchFamily="34" charset="0"/>
              </a:rPr>
              <a:t> automatica dei tumori cerebrali con </a:t>
            </a:r>
            <a:r>
              <a:rPr lang="it-IT" sz="2800" b="1" dirty="0">
                <a:latin typeface="Aptos" panose="020B0004020202020204" pitchFamily="34" charset="0"/>
              </a:rPr>
              <a:t>tecniche tradizionali di Image Processing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14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Confrontare </a:t>
            </a:r>
            <a:r>
              <a:rPr lang="it-IT" sz="2800" b="1" dirty="0">
                <a:latin typeface="Aptos" panose="020B0004020202020204" pitchFamily="34" charset="0"/>
              </a:rPr>
              <a:t>approcci </a:t>
            </a:r>
            <a:r>
              <a:rPr lang="it-IT" sz="2800" b="1" dirty="0" err="1">
                <a:latin typeface="Aptos" panose="020B0004020202020204" pitchFamily="34" charset="0"/>
              </a:rPr>
              <a:t>monomodali</a:t>
            </a:r>
            <a:r>
              <a:rPr lang="it-IT" sz="2800" b="1" dirty="0">
                <a:latin typeface="Aptos" panose="020B0004020202020204" pitchFamily="34" charset="0"/>
              </a:rPr>
              <a:t> e multimodali </a:t>
            </a:r>
            <a:r>
              <a:rPr lang="it-IT" sz="2800" dirty="0">
                <a:latin typeface="Aptos" panose="020B0004020202020204" pitchFamily="34" charset="0"/>
              </a:rPr>
              <a:t>per le immagini di Risonanza Magnetica (MRI)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Valutare </a:t>
            </a:r>
            <a:r>
              <a:rPr lang="it-IT" sz="2800" b="1" dirty="0">
                <a:latin typeface="Aptos" panose="020B0004020202020204" pitchFamily="34" charset="0"/>
              </a:rPr>
              <a:t>l’impatto delle diverse configurazioni di input </a:t>
            </a:r>
            <a:r>
              <a:rPr lang="it-IT" sz="2800" dirty="0">
                <a:latin typeface="Aptos" panose="020B0004020202020204" pitchFamily="34" charset="0"/>
              </a:rPr>
              <a:t>sulle metriche di segmentazione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BB238DD-29C3-41EF-3505-92631C94ED76}"/>
              </a:ext>
            </a:extLst>
          </p:cNvPr>
          <p:cNvSpPr txBox="1"/>
          <p:nvPr/>
        </p:nvSpPr>
        <p:spPr>
          <a:xfrm>
            <a:off x="609600" y="381000"/>
            <a:ext cx="76001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Obiettivi del Progetto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54BB0E6-57D4-1FEC-AA85-BAFD02094B8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D7D502EE-DD4F-56EE-8BD6-5A594F2C4DF0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3FEC48FB-D3A4-3344-200A-CA6CA711EBA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36B3CAD-3F21-FF89-52A5-DED40B895EC7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1D8A126-F197-59C5-326C-94E72D00136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074" name="Picture 2" descr="MATLAB Logo and symbol, meaning, history, PNG, brand">
            <a:extLst>
              <a:ext uri="{FF2B5EF4-FFF2-40B4-BE49-F238E27FC236}">
                <a16:creationId xmlns:a16="http://schemas.microsoft.com/office/drawing/2014/main" id="{B802E10D-8939-96A5-C5AB-B8F3DC7D9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3134" y="2491427"/>
            <a:ext cx="3739991" cy="2103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0120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F42BDD-AC35-B9F0-240A-7913C42A9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8F9F632-5BD6-F6C5-9529-91A02DB24A3F}"/>
              </a:ext>
            </a:extLst>
          </p:cNvPr>
          <p:cNvSpPr txBox="1">
            <a:spLocks/>
          </p:cNvSpPr>
          <p:nvPr/>
        </p:nvSpPr>
        <p:spPr>
          <a:xfrm>
            <a:off x="666401" y="1509773"/>
            <a:ext cx="5789295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Caratteristiche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 err="1">
                <a:latin typeface="Aptos" panose="020B0004020202020204" pitchFamily="34" charset="0"/>
              </a:rPr>
              <a:t>BraTS</a:t>
            </a:r>
            <a:r>
              <a:rPr lang="it-IT" sz="2800" dirty="0">
                <a:latin typeface="Aptos" panose="020B0004020202020204" pitchFamily="34" charset="0"/>
              </a:rPr>
              <a:t>/MSD - Task01_BrainTumor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484 volumi 3D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 sequenze </a:t>
            </a:r>
            <a:r>
              <a:rPr lang="it-IT" sz="2800" dirty="0">
                <a:latin typeface="Aptos" panose="020B0004020202020204" pitchFamily="34" charset="0"/>
              </a:rPr>
              <a:t>per paziente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Ground truth manuali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DC0E31A-1AFE-80D7-4A81-A6F16EE85084}"/>
              </a:ext>
            </a:extLst>
          </p:cNvPr>
          <p:cNvSpPr txBox="1"/>
          <p:nvPr/>
        </p:nvSpPr>
        <p:spPr>
          <a:xfrm>
            <a:off x="609600" y="381000"/>
            <a:ext cx="29514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Dataset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12C1904-85B6-2181-6436-132D7977E54E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84AE3BCC-B5E9-28F6-20A2-FB3878DFC18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6917C5F-56B9-79E3-661A-210FDF66723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2614E1E-D962-A36E-3DBB-CB38D30C7051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39A6C1C-B193-D207-C8C8-F9F5CD83A76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34712A4-735C-F2B6-F736-14A346DD5108}"/>
              </a:ext>
            </a:extLst>
          </p:cNvPr>
          <p:cNvSpPr txBox="1"/>
          <p:nvPr/>
        </p:nvSpPr>
        <p:spPr>
          <a:xfrm>
            <a:off x="609600" y="3895602"/>
            <a:ext cx="404241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Dettagli dei volumi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Formato .nii.gz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240 x 240 x 155 voxel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volumi registrati e </a:t>
            </a:r>
            <a:r>
              <a:rPr lang="it-IT" sz="2800" dirty="0" err="1">
                <a:latin typeface="Aptos" panose="020B0004020202020204" pitchFamily="34" charset="0"/>
              </a:rPr>
              <a:t>skull-stripped</a:t>
            </a: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Understanding and Processing the Brain Tumor Segmentation (BraTS2020)  Dataset | by Farah Abu Hamad | Mar, 2026 | Medium">
            <a:extLst>
              <a:ext uri="{FF2B5EF4-FFF2-40B4-BE49-F238E27FC236}">
                <a16:creationId xmlns:a16="http://schemas.microsoft.com/office/drawing/2014/main" id="{DF729BA9-1AC5-D311-D641-7306464F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9270" y="2865333"/>
            <a:ext cx="6143869" cy="3173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ome - Decathlon - Grand Challenge">
            <a:extLst>
              <a:ext uri="{FF2B5EF4-FFF2-40B4-BE49-F238E27FC236}">
                <a16:creationId xmlns:a16="http://schemas.microsoft.com/office/drawing/2014/main" id="{A5640020-10F7-1C9E-476B-6E0FCFB19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3886" y="1509773"/>
            <a:ext cx="4739253" cy="1194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1585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17A6E0-789B-73C3-FD58-055484E1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68098492-46F2-5C72-32A4-A17F04DCD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2" t="8701" r="70923" b="62449"/>
          <a:stretch>
            <a:fillRect/>
          </a:stretch>
        </p:blipFill>
        <p:spPr>
          <a:xfrm>
            <a:off x="7880556" y="1542335"/>
            <a:ext cx="3716977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DCF8ABE-A7D7-A539-DA05-E372FB4C94B2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FLAIR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Sopprime il segnale del </a:t>
            </a:r>
            <a:r>
              <a:rPr lang="it-IT" sz="2800" b="1" dirty="0">
                <a:latin typeface="Aptos" panose="020B0004020202020204" pitchFamily="34" charset="0"/>
              </a:rPr>
              <a:t>liquido cerebrospinale</a:t>
            </a:r>
            <a:r>
              <a:rPr lang="it-IT" sz="2800" dirty="0">
                <a:latin typeface="Aptos" panose="020B0004020202020204" pitchFamily="34" charset="0"/>
              </a:rPr>
              <a:t>, rendendo più visibili le anomalie nel parenchima cerebrale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Sequenza utile per osservare </a:t>
            </a:r>
            <a:r>
              <a:rPr lang="it-IT" sz="2800" b="1" dirty="0">
                <a:latin typeface="Aptos" panose="020B0004020202020204" pitchFamily="34" charset="0"/>
              </a:rPr>
              <a:t>edema </a:t>
            </a:r>
            <a:r>
              <a:rPr lang="it-IT" sz="2800" b="1" dirty="0" err="1">
                <a:latin typeface="Aptos" panose="020B0004020202020204" pitchFamily="34" charset="0"/>
              </a:rPr>
              <a:t>peritumorale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ed </a:t>
            </a:r>
            <a:r>
              <a:rPr lang="it-IT" sz="2800" b="1" dirty="0">
                <a:latin typeface="Aptos" panose="020B0004020202020204" pitchFamily="34" charset="0"/>
              </a:rPr>
              <a:t>estensione complessiva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2C79D39-3DE0-E14C-43A2-57FBB97F93B9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EEDAD181-3C42-1B40-F222-A5E56E4FF45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46AB843A-A0D8-D7D5-ED86-20386AD41B4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C04621E-DCB2-D258-6E83-7D1F97F10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FF714D9-3C94-C69D-9B12-819D42E9059F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8EE2B01-BF10-EEF3-3E71-6797982929B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3052343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6A490D-237A-C330-0777-826107027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3BBCE24-FD55-4AB5-B582-B7F17C6BD461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9703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Evidenzia bene </a:t>
            </a:r>
            <a:r>
              <a:rPr lang="it-IT" sz="2800" b="1" dirty="0">
                <a:latin typeface="Aptos" panose="020B0004020202020204" pitchFamily="34" charset="0"/>
              </a:rPr>
              <a:t>l’anatomia cerebrale generale </a:t>
            </a:r>
            <a:r>
              <a:rPr lang="it-IT" sz="2800" dirty="0">
                <a:latin typeface="Aptos" panose="020B0004020202020204" pitchFamily="34" charset="0"/>
              </a:rPr>
              <a:t>e il </a:t>
            </a:r>
            <a:r>
              <a:rPr lang="it-IT" sz="2800" b="1" dirty="0">
                <a:latin typeface="Aptos" panose="020B0004020202020204" pitchFamily="34" charset="0"/>
              </a:rPr>
              <a:t>contrasto</a:t>
            </a:r>
            <a:r>
              <a:rPr lang="it-IT" sz="2800" dirty="0">
                <a:latin typeface="Aptos" panose="020B0004020202020204" pitchFamily="34" charset="0"/>
              </a:rPr>
              <a:t> tra sostanza grigia, sostanza bianca e liquido cerebrospinale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Da sola è </a:t>
            </a:r>
            <a:r>
              <a:rPr lang="it-IT" sz="2800" b="1" dirty="0">
                <a:latin typeface="Aptos" panose="020B0004020202020204" pitchFamily="34" charset="0"/>
              </a:rPr>
              <a:t>poco sensibile al tumore</a:t>
            </a:r>
            <a:r>
              <a:rPr lang="it-IT" sz="2800" dirty="0">
                <a:latin typeface="Aptos" panose="020B0004020202020204" pitchFamily="34" charset="0"/>
              </a:rPr>
              <a:t>, perché le lesioni hanno intensità simili ai </a:t>
            </a:r>
            <a:r>
              <a:rPr lang="it-IT" sz="2800" b="1" dirty="0">
                <a:latin typeface="Aptos" panose="020B0004020202020204" pitchFamily="34" charset="0"/>
              </a:rPr>
              <a:t>tessuti circostanti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6899FE4-25B4-6F11-BB61-0A202058ECE1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240248A5-669C-DF50-2808-E74FF6910E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743B4F53-17E5-22C9-CA39-173DE86A44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331A2E1-2589-AAC8-6850-7D252B83AB7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205EAD1-19B0-7FC8-001A-4BF86DB04258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6459B41-FF5B-BD2D-D02A-9A12DE56F59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7CC3C263-F199-9409-A9FB-3AB594BD9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53" t="8701" r="50196" b="62449"/>
          <a:stretch>
            <a:fillRect/>
          </a:stretch>
        </p:blipFill>
        <p:spPr>
          <a:xfrm>
            <a:off x="7796391" y="1542335"/>
            <a:ext cx="3783330" cy="4166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113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7AEB564-305E-6BD1-FA93-15508B6AA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832C2BC0-7734-C8A5-2E54-BF0EC23A8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93" t="8701" r="29732" b="62449"/>
          <a:stretch>
            <a:fillRect/>
          </a:stretch>
        </p:blipFill>
        <p:spPr>
          <a:xfrm>
            <a:off x="7862744" y="1542335"/>
            <a:ext cx="3716977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5CC1E61-3A74-ABEF-41FB-CC6545711B87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T1c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Dopo </a:t>
            </a:r>
            <a:r>
              <a:rPr lang="it-IT" sz="2800" b="1" dirty="0">
                <a:latin typeface="Aptos" panose="020B0004020202020204" pitchFamily="34" charset="0"/>
              </a:rPr>
              <a:t>mezzo di contrasto </a:t>
            </a:r>
            <a:r>
              <a:rPr lang="it-IT" sz="2800" dirty="0">
                <a:latin typeface="Aptos" panose="020B0004020202020204" pitchFamily="34" charset="0"/>
              </a:rPr>
              <a:t>(gadolinio), evidenzia la </a:t>
            </a:r>
            <a:r>
              <a:rPr lang="it-IT" sz="2800" b="1" dirty="0">
                <a:latin typeface="Aptos" panose="020B0004020202020204" pitchFamily="34" charset="0"/>
              </a:rPr>
              <a:t>componente tumorale attiva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Non descrive bene </a:t>
            </a:r>
            <a:r>
              <a:rPr lang="it-IT" sz="2800" b="1" dirty="0">
                <a:latin typeface="Aptos" panose="020B0004020202020204" pitchFamily="34" charset="0"/>
              </a:rPr>
              <a:t>l’estensione complessiva</a:t>
            </a:r>
            <a:r>
              <a:rPr lang="it-IT" sz="2800" dirty="0">
                <a:latin typeface="Aptos" panose="020B0004020202020204" pitchFamily="34" charset="0"/>
              </a:rPr>
              <a:t> della lesione, ma solo la zona centrale più intensa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28A9E3-1C77-9A06-DB97-C20FAA604E4A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E385E34-B982-B292-EB97-6F07761CED0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5FA5796-F2E1-F2C6-889B-2588762B598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0D979D6-CDD6-4E5D-4CF8-36EFC5C34C6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73C8B79-F42B-0FC4-F449-4297933388B0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EE99926-C64B-83DD-95FD-10FC3D19876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4140411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B5715A-78A2-E471-8F63-CF6BDEBF9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69B5344-1006-68CB-6552-7E04CEB2B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355" t="8701" r="9021" b="62449"/>
          <a:stretch>
            <a:fillRect/>
          </a:stretch>
        </p:blipFill>
        <p:spPr>
          <a:xfrm>
            <a:off x="7844930" y="1542335"/>
            <a:ext cx="3752603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4887EF8-EC7B-4239-1E35-878AE94B0BE9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T2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</a:t>
            </a:r>
            <a:r>
              <a:rPr lang="it-IT" sz="2800" b="1" dirty="0">
                <a:latin typeface="Aptos" panose="020B0004020202020204" pitchFamily="34" charset="0"/>
              </a:rPr>
              <a:t>sensibile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al contenuto di acqua</a:t>
            </a:r>
            <a:r>
              <a:rPr lang="it-IT" sz="2800" dirty="0">
                <a:latin typeface="Aptos" panose="020B0004020202020204" pitchFamily="34" charset="0"/>
              </a:rPr>
              <a:t>, quindi mette in evidenza </a:t>
            </a:r>
            <a:r>
              <a:rPr lang="it-IT" sz="2800" b="1" dirty="0">
                <a:latin typeface="Aptos" panose="020B0004020202020204" pitchFamily="34" charset="0"/>
              </a:rPr>
              <a:t>edema</a:t>
            </a:r>
            <a:r>
              <a:rPr lang="it-IT" sz="2800" dirty="0">
                <a:latin typeface="Aptos" panose="020B0004020202020204" pitchFamily="34" charset="0"/>
              </a:rPr>
              <a:t> e regioni </a:t>
            </a:r>
            <a:r>
              <a:rPr lang="it-IT" sz="2800" dirty="0" err="1">
                <a:latin typeface="Aptos" panose="020B0004020202020204" pitchFamily="34" charset="0"/>
              </a:rPr>
              <a:t>iperintense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utile per descrivere </a:t>
            </a:r>
            <a:r>
              <a:rPr lang="it-IT" sz="2800" b="1" dirty="0">
                <a:latin typeface="Aptos" panose="020B0004020202020204" pitchFamily="34" charset="0"/>
              </a:rPr>
              <a:t>l’area patologica</a:t>
            </a:r>
            <a:r>
              <a:rPr lang="it-IT" sz="2800" dirty="0">
                <a:latin typeface="Aptos" panose="020B0004020202020204" pitchFamily="34" charset="0"/>
              </a:rPr>
              <a:t>, ma è meno specifica delle componenti tumorali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7BC63E8-4491-3B02-0B54-7AC951F8B52B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3686917-D040-6E1C-81CA-330EAF41233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46CEDE0-BF97-BABA-F5CF-E08F51FBC17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8A258889-C2B1-ADE4-1D81-6FF71206951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55517B2-D60F-6640-41A0-A6E779D4DD3D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31F9AB6-2BF6-4BD6-F5AC-C229A886071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2813906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2FFEF0D-AEA0-6443-807B-1EB48DCD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Elemento grafico 16">
            <a:extLst>
              <a:ext uri="{FF2B5EF4-FFF2-40B4-BE49-F238E27FC236}">
                <a16:creationId xmlns:a16="http://schemas.microsoft.com/office/drawing/2014/main" id="{44B361DA-5D62-F27A-B9C2-7EBABB43D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662" y="1723382"/>
            <a:ext cx="11412677" cy="1383185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5EC7F1CB-33E6-61EB-3F5A-9B904A026120}"/>
              </a:ext>
            </a:extLst>
          </p:cNvPr>
          <p:cNvSpPr txBox="1"/>
          <p:nvPr/>
        </p:nvSpPr>
        <p:spPr>
          <a:xfrm>
            <a:off x="609600" y="381000"/>
            <a:ext cx="93586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Architettura della Pipeline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6B9398C9-06CA-35A5-27F8-06C5A9A6D6D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DA48164-D454-04A2-82DE-16B83FE4FB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1CA38D-C821-E357-23B8-C89808F1DF3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E2AC22A-90BF-3295-AC39-92A2FCB19A55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02D3D74-C1F5-06D8-7865-0D0804CDEC9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5B70821-B36D-D4FD-BFE5-F228AE4EA4E4}"/>
              </a:ext>
            </a:extLst>
          </p:cNvPr>
          <p:cNvSpPr txBox="1">
            <a:spLocks/>
          </p:cNvSpPr>
          <p:nvPr/>
        </p:nvSpPr>
        <p:spPr>
          <a:xfrm>
            <a:off x="389661" y="3429000"/>
            <a:ext cx="11412677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EDA: </a:t>
            </a:r>
            <a:r>
              <a:rPr lang="it-IT" sz="2800" dirty="0">
                <a:latin typeface="Aptos" panose="020B0004020202020204" pitchFamily="34" charset="0"/>
              </a:rPr>
              <a:t>analisi delle sequenze MRI e delle distribuzioni di intensità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Pre</a:t>
            </a:r>
            <a:r>
              <a:rPr lang="it-IT" sz="2800" b="1" dirty="0">
                <a:latin typeface="Aptos" panose="020B0004020202020204" pitchFamily="34" charset="0"/>
              </a:rPr>
              <a:t>-Processing: </a:t>
            </a:r>
            <a:r>
              <a:rPr lang="it-IT" sz="2800" dirty="0">
                <a:latin typeface="Aptos" panose="020B0004020202020204" pitchFamily="34" charset="0"/>
              </a:rPr>
              <a:t>preparazione delle sequenze per la segmentazione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Segmentazione: </a:t>
            </a:r>
            <a:r>
              <a:rPr lang="it-IT" sz="2800" dirty="0">
                <a:latin typeface="Aptos" panose="020B0004020202020204" pitchFamily="34" charset="0"/>
              </a:rPr>
              <a:t>tecniche di Image Processing in cascata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Post-Processing: </a:t>
            </a:r>
            <a:r>
              <a:rPr lang="it-IT" sz="2800" dirty="0">
                <a:latin typeface="Aptos" panose="020B0004020202020204" pitchFamily="34" charset="0"/>
              </a:rPr>
              <a:t>rifinitura delle maschere di segmentazione ottenute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Valutazione: </a:t>
            </a:r>
            <a:r>
              <a:rPr lang="it-IT" sz="2800" dirty="0">
                <a:latin typeface="Aptos" panose="020B0004020202020204" pitchFamily="34" charset="0"/>
              </a:rPr>
              <a:t>stima delle prestazioni della pipeline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3AB5983-BF22-E322-80DD-ABBA9AF34DF8}"/>
              </a:ext>
            </a:extLst>
          </p:cNvPr>
          <p:cNvSpPr txBox="1">
            <a:spLocks/>
          </p:cNvSpPr>
          <p:nvPr/>
        </p:nvSpPr>
        <p:spPr>
          <a:xfrm>
            <a:off x="8366828" y="5915885"/>
            <a:ext cx="3474719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it-IT" sz="2000" u="sng" dirty="0">
                <a:latin typeface="Aptos" panose="020B0004020202020204" pitchFamily="34" charset="0"/>
              </a:rPr>
              <a:t>Paziente considerato: ID 218</a:t>
            </a:r>
          </a:p>
        </p:txBody>
      </p:sp>
    </p:spTree>
    <p:extLst>
      <p:ext uri="{BB962C8B-B14F-4D97-AF65-F5344CB8AC3E}">
        <p14:creationId xmlns:p14="http://schemas.microsoft.com/office/powerpoint/2010/main" val="17857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D266CE-A9CC-B491-B1DB-245A880C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F73355E-A963-6BD7-38EB-D9F188C153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7" r="8190" b="4662"/>
          <a:stretch>
            <a:fillRect/>
          </a:stretch>
        </p:blipFill>
        <p:spPr>
          <a:xfrm>
            <a:off x="5178167" y="1473905"/>
            <a:ext cx="6846571" cy="469552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18A6B1D4-6BA3-0D92-7158-0BDD53452740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A8986B7-A59E-D3C0-1822-AF0E521808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7462FEF-DE3D-FC22-A4D3-16345F335AA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B2F844-8F43-E631-9C9F-5FC7952649E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6685C4F-28A2-1E94-C2B1-905A7217523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EE9196C-C247-6A20-8650-AB4235C165E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43499C9-5391-63D2-A554-6CEF72206E91}"/>
              </a:ext>
            </a:extLst>
          </p:cNvPr>
          <p:cNvSpPr txBox="1"/>
          <p:nvPr/>
        </p:nvSpPr>
        <p:spPr>
          <a:xfrm>
            <a:off x="461010" y="1638925"/>
            <a:ext cx="469956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Originali 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Istogrammi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sequenze presentano </a:t>
            </a:r>
            <a:r>
              <a:rPr lang="it-IT" sz="2800" b="1" dirty="0">
                <a:latin typeface="Aptos" panose="020B0004020202020204" pitchFamily="34" charset="0"/>
              </a:rPr>
              <a:t>distribuzioni di intensità diverse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 EDA: </a:t>
            </a:r>
            <a:r>
              <a:rPr lang="it-IT" sz="2800" dirty="0">
                <a:latin typeface="Aptos" panose="020B0004020202020204" pitchFamily="34" charset="0"/>
              </a:rPr>
              <a:t>capire</a:t>
            </a:r>
            <a:r>
              <a:rPr lang="it-IT" sz="2800" b="1" dirty="0">
                <a:latin typeface="Aptos" panose="020B0004020202020204" pitchFamily="34" charset="0"/>
              </a:rPr>
              <a:t> quali modalità sono più informative </a:t>
            </a:r>
            <a:r>
              <a:rPr lang="it-IT" sz="2800" dirty="0">
                <a:latin typeface="Aptos" panose="020B0004020202020204" pitchFamily="34" charset="0"/>
              </a:rPr>
              <a:t>per la lesione</a:t>
            </a:r>
          </a:p>
        </p:txBody>
      </p:sp>
    </p:spTree>
    <p:extLst>
      <p:ext uri="{BB962C8B-B14F-4D97-AF65-F5344CB8AC3E}">
        <p14:creationId xmlns:p14="http://schemas.microsoft.com/office/powerpoint/2010/main" val="3462255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ED44B53-4D71-61F3-43DD-80513EFB5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EE90C003-AC31-209B-E27B-2EE87342EE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5" r="8214" b="3408"/>
          <a:stretch>
            <a:fillRect/>
          </a:stretch>
        </p:blipFill>
        <p:spPr>
          <a:xfrm>
            <a:off x="5121936" y="1473905"/>
            <a:ext cx="6892291" cy="475729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567C22-E2AA-DBEB-294C-D579260481A7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9F81983D-BF3D-AA9E-E9AB-AD40A3A254C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9C1AECD-FD01-4ADB-B8DB-89CAC1761A3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63F1DD5-7AFA-F17D-7FDA-6F11384F66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CF4135D-29AA-3ABD-F666-6EEEF14C0B33}"/>
              </a:ext>
            </a:extLst>
          </p:cNvPr>
          <p:cNvSpPr txBox="1"/>
          <p:nvPr/>
        </p:nvSpPr>
        <p:spPr>
          <a:xfrm>
            <a:off x="11671425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42C5AFF-39ED-B468-D121-3C2F3E34331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8FCFEB8-8CFE-46B8-FC43-838C3165F0B9}"/>
              </a:ext>
            </a:extLst>
          </p:cNvPr>
          <p:cNvSpPr txBox="1"/>
          <p:nvPr/>
        </p:nvSpPr>
        <p:spPr>
          <a:xfrm>
            <a:off x="461010" y="1638925"/>
            <a:ext cx="50359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CLAHE 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Istogrammi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CLAHE migliora la visualizzazione ed </a:t>
            </a:r>
            <a:r>
              <a:rPr lang="it-IT" sz="2800" b="1" dirty="0">
                <a:latin typeface="Aptos" panose="020B0004020202020204" pitchFamily="34" charset="0"/>
              </a:rPr>
              <a:t>equalizza gli istogrammi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Risultato: </a:t>
            </a:r>
            <a:r>
              <a:rPr lang="it-IT" sz="2800" dirty="0">
                <a:latin typeface="Aptos" panose="020B0004020202020204" pitchFamily="34" charset="0"/>
              </a:rPr>
              <a:t>non viene utilizzata nella pipeline (artefatti </a:t>
            </a:r>
            <a:r>
              <a:rPr lang="it-IT" sz="2800" b="1" dirty="0">
                <a:latin typeface="Aptos" panose="020B0004020202020204" pitchFamily="34" charset="0"/>
              </a:rPr>
              <a:t>peggiorano la segmentazione</a:t>
            </a:r>
            <a:r>
              <a:rPr lang="it-IT" sz="280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99171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88FD657-6335-AD07-9299-BA69965C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:a16="http://schemas.microsoft.com/office/drawing/2014/main" id="{41057687-B2DB-4461-265E-C67E1B748B2A}"/>
              </a:ext>
            </a:extLst>
          </p:cNvPr>
          <p:cNvSpPr txBox="1"/>
          <p:nvPr/>
        </p:nvSpPr>
        <p:spPr>
          <a:xfrm>
            <a:off x="686183" y="1966095"/>
            <a:ext cx="528117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Rendering Volume 3D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Visualizzazione </a:t>
            </a:r>
            <a:r>
              <a:rPr lang="it-IT" sz="2800" b="1" dirty="0">
                <a:latin typeface="Aptos" panose="020B0004020202020204" pitchFamily="34" charset="0"/>
              </a:rPr>
              <a:t>interattiva e dinamica</a:t>
            </a:r>
            <a:r>
              <a:rPr lang="it-IT" sz="2800" dirty="0">
                <a:latin typeface="Aptos" panose="020B0004020202020204" pitchFamily="34" charset="0"/>
              </a:rPr>
              <a:t> del volume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Utile per comprendere la </a:t>
            </a:r>
            <a:r>
              <a:rPr lang="it-IT" sz="2800" b="1" dirty="0">
                <a:latin typeface="Aptos" panose="020B0004020202020204" pitchFamily="34" charset="0"/>
              </a:rPr>
              <a:t>reale estensione e localizzazione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EF4235-38F6-CAA1-946D-A10B026928B8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CEF1191-C6D3-0538-E0E8-65F89248ECFD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77C5900-3C19-4BD3-BE74-FA44D20A530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604D60-DF5E-885D-DE53-A6B739BDF60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996F036-9D67-706B-AE67-6683398AEAC4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76E669F-A5AF-A732-93F1-478085C0C23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80121C-BA7E-994A-2018-6501C63316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62" r="16958"/>
          <a:stretch>
            <a:fillRect/>
          </a:stretch>
        </p:blipFill>
        <p:spPr>
          <a:xfrm>
            <a:off x="6236076" y="1674205"/>
            <a:ext cx="5281172" cy="418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113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46C524-7E61-2067-B7A3-38242E36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ADFFBE-FD30-CDDD-2CE0-1558B78A6520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732636B-EB47-5A93-25F0-2FA4F0D20EE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5E57161-403D-51B4-1E45-DFC17882CEB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A1178EB-792D-C196-93C6-294AB16E0C5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C70D172-4C17-2491-1E5E-669A4FFB46F6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5953D9E-717C-989A-87D9-AD7AF68693D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D9F1C21-ECDA-F713-D836-BB3BFE938C7F}"/>
              </a:ext>
            </a:extLst>
          </p:cNvPr>
          <p:cNvSpPr txBox="1"/>
          <p:nvPr/>
        </p:nvSpPr>
        <p:spPr>
          <a:xfrm>
            <a:off x="639873" y="1980733"/>
            <a:ext cx="610933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Selezione Slice Significativa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Criterio: </a:t>
            </a:r>
            <a:r>
              <a:rPr lang="it-IT" sz="2800" dirty="0">
                <a:latin typeface="Aptos" panose="020B0004020202020204" pitchFamily="34" charset="0"/>
              </a:rPr>
              <a:t>scelta </a:t>
            </a:r>
            <a:r>
              <a:rPr lang="it-IT" sz="2800" b="1" dirty="0">
                <a:latin typeface="Aptos" panose="020B0004020202020204" pitchFamily="34" charset="0"/>
              </a:rPr>
              <a:t>automatica</a:t>
            </a:r>
            <a:r>
              <a:rPr lang="it-IT" sz="2800" dirty="0">
                <a:latin typeface="Aptos" panose="020B0004020202020204" pitchFamily="34" charset="0"/>
              </a:rPr>
              <a:t> della slice con </a:t>
            </a:r>
            <a:r>
              <a:rPr lang="it-IT" sz="2800" b="1" dirty="0">
                <a:latin typeface="Aptos" panose="020B0004020202020204" pitchFamily="34" charset="0"/>
              </a:rPr>
              <a:t>massima estensione </a:t>
            </a:r>
            <a:r>
              <a:rPr lang="it-IT" sz="2800" dirty="0">
                <a:latin typeface="Aptos" panose="020B0004020202020204" pitchFamily="34" charset="0"/>
              </a:rPr>
              <a:t>tumorale nella </a:t>
            </a:r>
            <a:r>
              <a:rPr lang="it-IT" sz="2800" b="1" dirty="0">
                <a:latin typeface="Aptos" panose="020B0004020202020204" pitchFamily="34" charset="0"/>
              </a:rPr>
              <a:t>ground truth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Motivazione: </a:t>
            </a:r>
            <a:r>
              <a:rPr lang="it-IT" sz="2800" dirty="0">
                <a:latin typeface="Aptos" panose="020B0004020202020204" pitchFamily="34" charset="0"/>
              </a:rPr>
              <a:t>ridurre il problema </a:t>
            </a:r>
            <a:r>
              <a:rPr lang="it-IT" sz="2800" b="1" dirty="0">
                <a:latin typeface="Aptos" panose="020B0004020202020204" pitchFamily="34" charset="0"/>
              </a:rPr>
              <a:t>3D a un’analisi 2D </a:t>
            </a:r>
            <a:r>
              <a:rPr lang="it-IT" sz="2800" dirty="0">
                <a:latin typeface="Aptos" panose="020B0004020202020204" pitchFamily="34" charset="0"/>
              </a:rPr>
              <a:t>controllabile e confrontabile</a:t>
            </a: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E09F7895-64AE-21F2-95FE-2888620566C6}"/>
              </a:ext>
            </a:extLst>
          </p:cNvPr>
          <p:cNvGrpSpPr/>
          <p:nvPr/>
        </p:nvGrpSpPr>
        <p:grpSpPr>
          <a:xfrm>
            <a:off x="6167766" y="1337837"/>
            <a:ext cx="6109334" cy="4870174"/>
            <a:chOff x="6167766" y="1337837"/>
            <a:chExt cx="6109334" cy="4870174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7110EF9-8A37-C713-EE6A-8695781E8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773" t="7431" r="65449" b="55008"/>
            <a:stretch>
              <a:fillRect/>
            </a:stretch>
          </p:blipFill>
          <p:spPr>
            <a:xfrm>
              <a:off x="7379763" y="1337837"/>
              <a:ext cx="3682671" cy="382454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/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  <m:sup/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  <m:sup/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nary>
                          </m:e>
                        </m:nary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</m:oMath>
                    </m:oMathPara>
                  </a14:m>
                  <a:endParaRPr lang="it-IT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best</m:t>
                            </m:r>
                          </m:sub>
                        </m:sSub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d>
                                  <m:d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6E32B78-4E24-2F32-47C6-AD0ACD0D2CD0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495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130308C-D749-6495-2863-348B0DF0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o 14">
            <a:extLst>
              <a:ext uri="{FF2B5EF4-FFF2-40B4-BE49-F238E27FC236}">
                <a16:creationId xmlns:a16="http://schemas.microsoft.com/office/drawing/2014/main" id="{45A1FA5F-6224-CCAB-B689-A1A7C5D28748}"/>
              </a:ext>
            </a:extLst>
          </p:cNvPr>
          <p:cNvGrpSpPr/>
          <p:nvPr/>
        </p:nvGrpSpPr>
        <p:grpSpPr>
          <a:xfrm>
            <a:off x="6122683" y="888831"/>
            <a:ext cx="6109334" cy="5486401"/>
            <a:chOff x="6122683" y="888831"/>
            <a:chExt cx="6109334" cy="5486401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EC4655CC-745E-B222-1EC6-D297061C8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36747" b="3631"/>
            <a:stretch>
              <a:fillRect/>
            </a:stretch>
          </p:blipFill>
          <p:spPr>
            <a:xfrm>
              <a:off x="6172188" y="888831"/>
              <a:ext cx="5715000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/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norm</m:t>
                            </m:r>
                          </m:sub>
                        </m:sSub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B018D0-F83E-CA83-6D06-78F9B5B3319C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7A3A08E-2854-021F-E0CD-9B879DA6989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CC2C7E0-CEC9-E0D0-210D-F3132B4CDCA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464FB0-DDD4-8AB1-A9EB-F7EAC76FA2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1E9716-A18C-91AC-45CC-D9C8985466C9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BE6A1EF-1287-7A52-5BAD-978DDC4AC65D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CC5E38-7385-0DF6-3772-CBF6414674E0}"/>
              </a:ext>
            </a:extLst>
          </p:cNvPr>
          <p:cNvSpPr txBox="1"/>
          <p:nvPr/>
        </p:nvSpPr>
        <p:spPr>
          <a:xfrm>
            <a:off x="552449" y="1974647"/>
            <a:ext cx="610933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Normalizzazione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rendere </a:t>
            </a:r>
            <a:r>
              <a:rPr lang="it-IT" sz="2800" b="1" dirty="0">
                <a:latin typeface="Aptos" panose="020B0004020202020204" pitchFamily="34" charset="0"/>
              </a:rPr>
              <a:t>confrontabili le intensità</a:t>
            </a:r>
            <a:r>
              <a:rPr lang="it-IT" sz="2800" dirty="0">
                <a:latin typeface="Aptos" panose="020B0004020202020204" pitchFamily="34" charset="0"/>
              </a:rPr>
              <a:t> tra pazienti e sequenze, facilitando la segmentazione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Z-score all’interno della ROI cerebrale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Azzeramento del background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 err="1">
                <a:latin typeface="Aptos" panose="020B0004020202020204" pitchFamily="34" charset="0"/>
              </a:rPr>
              <a:t>Remapping</a:t>
            </a:r>
            <a:r>
              <a:rPr lang="it-IT" sz="2800" dirty="0">
                <a:latin typeface="Aptos" panose="020B0004020202020204" pitchFamily="34" charset="0"/>
              </a:rPr>
              <a:t> finale in [0,1]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47EBC11-9E88-5B6F-EA5D-E7EE187E363C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694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7E0E202-85AC-1AC7-0217-ADD45F11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31533D-7F47-64FA-D175-4ABA5491DBD8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20FE6E6-0683-91B4-EC05-44C97965C1D7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9003E5E-83C1-A89C-C864-AD89C965ECA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F5DF6DE-DC27-C369-531F-E602755A5F8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463AC43-A696-102C-37C7-6017A571871A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424C19-ECB8-39A3-D6E0-5DC5B3B0F17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FC5DB6B-DD9D-3F41-4069-3B890D8227DF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DE898A1-7D0F-09B6-F5B4-3F5766FD0867}"/>
              </a:ext>
            </a:extLst>
          </p:cNvPr>
          <p:cNvSpPr txBox="1"/>
          <p:nvPr/>
        </p:nvSpPr>
        <p:spPr>
          <a:xfrm>
            <a:off x="609599" y="1974647"/>
            <a:ext cx="583324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Filtro Mediano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ridurre il rumore </a:t>
            </a:r>
            <a:r>
              <a:rPr lang="it-IT" sz="2800" b="1" dirty="0">
                <a:latin typeface="Aptos" panose="020B0004020202020204" pitchFamily="34" charset="0"/>
              </a:rPr>
              <a:t>preservando i contorni </a:t>
            </a:r>
            <a:r>
              <a:rPr lang="it-IT" sz="2800" dirty="0">
                <a:latin typeface="Aptos" panose="020B0004020202020204" pitchFamily="34" charset="0"/>
              </a:rPr>
              <a:t>principali della lesione.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Kernel 3 x 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Riduce il rumore impulsivo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Non sfuma eccessivamente i bordi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B17546-5121-5DD7-277C-ACCD16BA3FBF}"/>
              </a:ext>
            </a:extLst>
          </p:cNvPr>
          <p:cNvGrpSpPr/>
          <p:nvPr/>
        </p:nvGrpSpPr>
        <p:grpSpPr>
          <a:xfrm>
            <a:off x="6172188" y="888830"/>
            <a:ext cx="6162699" cy="5486402"/>
            <a:chOff x="6172188" y="888830"/>
            <a:chExt cx="6162699" cy="5486402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36112EE3-83F7-2D20-33DB-FB160C97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64333" b="3631"/>
            <a:stretch>
              <a:fillRect/>
            </a:stretch>
          </p:blipFill>
          <p:spPr>
            <a:xfrm>
              <a:off x="6172188" y="888831"/>
              <a:ext cx="2891802" cy="5486401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A18A07BC-1FE0-C089-AB4F-404AE4ED6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940" t="7340" r="7969" b="3631"/>
            <a:stretch>
              <a:fillRect/>
            </a:stretch>
          </p:blipFill>
          <p:spPr>
            <a:xfrm>
              <a:off x="9086850" y="888830"/>
              <a:ext cx="2874907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/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median</m:t>
                            </m:r>
                          </m:fName>
                          <m:e>
                            <m:r>
                              <m:rPr>
                                <m:lit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</m:e>
                        </m:func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∣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m:rPr>
                            <m:lit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blipFill>
                  <a:blip r:embed="rId4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1808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F191E4-EC93-2C16-8968-103AC248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E1DA2986-4E00-FBC2-AB21-B97ADDE1BE2B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402FEC26-79CE-622C-385F-DAE03A60F62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03FE72D8-BBAB-38A1-18E5-64707F16FD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B8D1686-CC36-FBCE-C50F-8C585B78A05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EF54D05-1427-EF9E-EF19-E266F2DF19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18B251D-761A-9D07-0BCC-C118F5CF54D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24D5CF3-B0D2-4612-84F0-63ECFF2986C9}"/>
              </a:ext>
            </a:extLst>
          </p:cNvPr>
          <p:cNvSpPr txBox="1"/>
          <p:nvPr/>
        </p:nvSpPr>
        <p:spPr>
          <a:xfrm>
            <a:off x="523874" y="1621106"/>
            <a:ext cx="618172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Fusione Multimodale (Fus2 e Fus3)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integrare </a:t>
            </a:r>
            <a:r>
              <a:rPr lang="it-IT" sz="2800" b="1" dirty="0">
                <a:latin typeface="Aptos" panose="020B0004020202020204" pitchFamily="34" charset="0"/>
              </a:rPr>
              <a:t>informazioni complementari </a:t>
            </a:r>
            <a:r>
              <a:rPr lang="it-IT" sz="2800" dirty="0">
                <a:latin typeface="Aptos" panose="020B0004020202020204" pitchFamily="34" charset="0"/>
              </a:rPr>
              <a:t>per migliorare la segmentazione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FLAIR per l’estensione della lesione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T1c per la componente attiva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T2 per la localizzazione della regione tumorale</a:t>
            </a: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E5CE5118-61F3-5CB0-CE7D-10C69978CECB}"/>
              </a:ext>
            </a:extLst>
          </p:cNvPr>
          <p:cNvGrpSpPr/>
          <p:nvPr/>
        </p:nvGrpSpPr>
        <p:grpSpPr>
          <a:xfrm>
            <a:off x="6519875" y="828666"/>
            <a:ext cx="6109334" cy="5486418"/>
            <a:chOff x="6577025" y="609591"/>
            <a:chExt cx="6109334" cy="5486418"/>
          </a:xfrm>
        </p:grpSpPr>
        <p:grpSp>
          <p:nvGrpSpPr>
            <p:cNvPr id="18" name="Gruppo 17">
              <a:extLst>
                <a:ext uri="{FF2B5EF4-FFF2-40B4-BE49-F238E27FC236}">
                  <a16:creationId xmlns:a16="http://schemas.microsoft.com/office/drawing/2014/main" id="{9A2418B7-D0B7-B340-76F6-7314BD4FE0C1}"/>
                </a:ext>
              </a:extLst>
            </p:cNvPr>
            <p:cNvGrpSpPr/>
            <p:nvPr/>
          </p:nvGrpSpPr>
          <p:grpSpPr>
            <a:xfrm>
              <a:off x="6720090" y="609591"/>
              <a:ext cx="5382861" cy="5486418"/>
              <a:chOff x="6720090" y="609591"/>
              <a:chExt cx="5382861" cy="5486418"/>
            </a:xfrm>
          </p:grpSpPr>
          <p:pic>
            <p:nvPicPr>
              <p:cNvPr id="9" name="Immagine 8">
                <a:extLst>
                  <a:ext uri="{FF2B5EF4-FFF2-40B4-BE49-F238E27FC236}">
                    <a16:creationId xmlns:a16="http://schemas.microsoft.com/office/drawing/2014/main" id="{5BB647F9-F1A7-E111-4028-D42AF42B3C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87" t="5907" r="8208" b="5064"/>
              <a:stretch>
                <a:fillRect/>
              </a:stretch>
            </p:blipFill>
            <p:spPr>
              <a:xfrm>
                <a:off x="6720090" y="609591"/>
                <a:ext cx="2927474" cy="5486418"/>
              </a:xfrm>
              <a:prstGeom prst="rect">
                <a:avLst/>
              </a:prstGeom>
            </p:spPr>
          </p:pic>
          <p:pic>
            <p:nvPicPr>
              <p:cNvPr id="12" name="Immagine 11">
                <a:extLst>
                  <a:ext uri="{FF2B5EF4-FFF2-40B4-BE49-F238E27FC236}">
                    <a16:creationId xmlns:a16="http://schemas.microsoft.com/office/drawing/2014/main" id="{68A91574-56D0-1707-CF48-407DF2C46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0475" t="52668" r="8239" b="5242"/>
              <a:stretch>
                <a:fillRect/>
              </a:stretch>
            </p:blipFill>
            <p:spPr>
              <a:xfrm>
                <a:off x="9631692" y="3558723"/>
                <a:ext cx="2471259" cy="2527149"/>
              </a:xfrm>
              <a:prstGeom prst="rect">
                <a:avLst/>
              </a:prstGeom>
            </p:spPr>
          </p:pic>
          <p:pic>
            <p:nvPicPr>
              <p:cNvPr id="15" name="Immagine 14">
                <a:extLst>
                  <a:ext uri="{FF2B5EF4-FFF2-40B4-BE49-F238E27FC236}">
                    <a16:creationId xmlns:a16="http://schemas.microsoft.com/office/drawing/2014/main" id="{AB248CA5-059A-D50A-F34E-4F53BAB519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447" t="9301" r="8786" b="60539"/>
              <a:stretch>
                <a:fillRect/>
              </a:stretch>
            </p:blipFill>
            <p:spPr>
              <a:xfrm>
                <a:off x="9647564" y="667354"/>
                <a:ext cx="2239624" cy="242586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/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=0.6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+0.4 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it-IT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=0.5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+0.2 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+0.3 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blipFill>
                  <a:blip r:embed="rId5"/>
                  <a:stretch>
                    <a:fillRect b="-3604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40513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853B916-72F6-BC5A-D6B6-6863E9DBD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B56EC8E4-D42B-6468-9AB9-D43CC3C38B0A}"/>
              </a:ext>
            </a:extLst>
          </p:cNvPr>
          <p:cNvGrpSpPr/>
          <p:nvPr/>
        </p:nvGrpSpPr>
        <p:grpSpPr>
          <a:xfrm>
            <a:off x="5506224" y="1116106"/>
            <a:ext cx="6956641" cy="4759138"/>
            <a:chOff x="5267326" y="1176100"/>
            <a:chExt cx="6956641" cy="4759138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41E713A5-2106-D1CF-C960-85A77CCF9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0218"/>
            <a:stretch>
              <a:fillRect/>
            </a:stretch>
          </p:blipFill>
          <p:spPr>
            <a:xfrm>
              <a:off x="5267326" y="1176100"/>
              <a:ext cx="6109334" cy="46109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/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lim>
                                </m:limLow>
                              </m:fName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𝑆𝑒𝑒𝑑𝑀𝑎𝑝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blipFill>
                  <a:blip r:embed="rId4"/>
                  <a:stretch>
                    <a:fillRect b="-1205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3F66F9E-0485-8DDB-52C8-7F26DEBA2AA3}"/>
              </a:ext>
            </a:extLst>
          </p:cNvPr>
          <p:cNvSpPr txBox="1"/>
          <p:nvPr/>
        </p:nvSpPr>
        <p:spPr>
          <a:xfrm>
            <a:off x="628650" y="1668731"/>
            <a:ext cx="62865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 err="1">
                <a:latin typeface="Aptos" panose="020B0004020202020204" pitchFamily="34" charset="0"/>
              </a:rPr>
              <a:t>Seed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Map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selezionare il </a:t>
            </a:r>
            <a:r>
              <a:rPr lang="it-IT" sz="2800" b="1" dirty="0">
                <a:latin typeface="Aptos" panose="020B0004020202020204" pitchFamily="34" charset="0"/>
              </a:rPr>
              <a:t>seme iniziale</a:t>
            </a:r>
            <a:r>
              <a:rPr lang="it-IT" sz="2800" dirty="0">
                <a:latin typeface="Aptos" panose="020B0004020202020204" pitchFamily="34" charset="0"/>
              </a:rPr>
              <a:t> per guidare il </a:t>
            </a:r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r>
              <a:rPr lang="it-IT" sz="2800" dirty="0">
                <a:latin typeface="Aptos" panose="020B0004020202020204" pitchFamily="34" charset="0"/>
              </a:rPr>
              <a:t> e </a:t>
            </a:r>
            <a:r>
              <a:rPr lang="it-IT" sz="2800" b="1" dirty="0">
                <a:latin typeface="Aptos" panose="020B0004020202020204" pitchFamily="34" charset="0"/>
              </a:rPr>
              <a:t>ridurre l’influenza del rumore</a:t>
            </a:r>
            <a:r>
              <a:rPr lang="it-IT" sz="2800" dirty="0">
                <a:latin typeface="Aptos" panose="020B0004020202020204" pitchFamily="34" charset="0"/>
              </a:rPr>
              <a:t> nella scelta del seme con </a:t>
            </a:r>
            <a:r>
              <a:rPr lang="it-IT" sz="2800" b="1" dirty="0">
                <a:latin typeface="Aptos" panose="020B0004020202020204" pitchFamily="34" charset="0"/>
              </a:rPr>
              <a:t>filtro gaussiano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Costruita da Fusion3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σ = 3 scelto sperimentalmente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105719-488A-2A04-DEB5-6C77FC102CEF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3DFBD50-6639-C60B-7C6F-3806591E2F4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C2338EB-A630-1D71-B72D-3CC2EA78DE9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7F71636-09C9-1795-8DEB-24CA80C6EA7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582BD5-C5DD-1824-8442-2F0990E65C1B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FDC9D-83C2-17D1-0EF2-FCA47711DD8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1717905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77D6B76-9357-BFAD-A8ED-FD5C2EE8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AAD435-4732-E158-C54B-3302357CA6FA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17CDA685-3323-C542-1956-D88EA18FE0E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1DDBC3F-79E2-0A07-1EFA-F9BE51D39D8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719BDBD-07B2-7411-DA1C-088298ECC34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E9C002A-11DB-9ECE-1DD0-28866BC40495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662F2-AA4D-711F-AF3B-514027B3D99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621C499-771A-1F8D-4F8C-0A969AE31236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CC148A63-CB7B-8C5B-3167-B6874AA47E89}"/>
              </a:ext>
            </a:extLst>
          </p:cNvPr>
          <p:cNvGrpSpPr/>
          <p:nvPr/>
        </p:nvGrpSpPr>
        <p:grpSpPr>
          <a:xfrm>
            <a:off x="7999303" y="1463302"/>
            <a:ext cx="3552824" cy="4554761"/>
            <a:chOff x="7696201" y="1524061"/>
            <a:chExt cx="3552824" cy="4554761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CD08B2A-B9CF-507E-1857-C4A6797A1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8" t="7111" r="59772" b="55948"/>
            <a:stretch>
              <a:fillRect/>
            </a:stretch>
          </p:blipFill>
          <p:spPr>
            <a:xfrm>
              <a:off x="7696201" y="1524061"/>
              <a:ext cx="3552824" cy="3724232"/>
            </a:xfrm>
            <a:prstGeom prst="rect">
              <a:avLst/>
            </a:prstGeom>
          </p:spPr>
        </p:pic>
        <p:pic>
          <p:nvPicPr>
            <p:cNvPr id="17" name="Immagine 16">
              <a:extLst>
                <a:ext uri="{FF2B5EF4-FFF2-40B4-BE49-F238E27FC236}">
                  <a16:creationId xmlns:a16="http://schemas.microsoft.com/office/drawing/2014/main" id="{206DB5D1-3B0C-34FE-ACFD-7E31E8E96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4722" y="5248293"/>
              <a:ext cx="3514303" cy="830529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B91D577-57D0-F5F8-6E35-192585B1F053}"/>
              </a:ext>
            </a:extLst>
          </p:cNvPr>
          <p:cNvSpPr txBox="1"/>
          <p:nvPr/>
        </p:nvSpPr>
        <p:spPr>
          <a:xfrm>
            <a:off x="609599" y="1945848"/>
            <a:ext cx="709612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Otsu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Segmentazione iniziale </a:t>
            </a:r>
            <a:r>
              <a:rPr lang="it-IT" sz="2800" dirty="0">
                <a:latin typeface="Aptos" panose="020B0004020202020204" pitchFamily="34" charset="0"/>
              </a:rPr>
              <a:t>basata su </a:t>
            </a:r>
            <a:r>
              <a:rPr lang="it-IT" sz="2800" dirty="0" err="1">
                <a:latin typeface="Aptos" panose="020B0004020202020204" pitchFamily="34" charset="0"/>
              </a:rPr>
              <a:t>sogliatura</a:t>
            </a:r>
            <a:r>
              <a:rPr lang="it-IT" sz="2800" dirty="0">
                <a:latin typeface="Aptos" panose="020B0004020202020204" pitchFamily="34" charset="0"/>
              </a:rPr>
              <a:t>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classi massimizzando la </a:t>
            </a:r>
            <a:r>
              <a:rPr lang="it-IT" sz="2800" b="1" dirty="0">
                <a:latin typeface="Aptos" panose="020B0004020202020204" pitchFamily="34" charset="0"/>
              </a:rPr>
              <a:t>variabilità inter-classe </a:t>
            </a:r>
            <a:r>
              <a:rPr lang="it-IT" sz="2800" dirty="0">
                <a:latin typeface="Aptos" panose="020B0004020202020204" pitchFamily="34" charset="0"/>
              </a:rPr>
              <a:t>e minimizzando quella </a:t>
            </a:r>
            <a:r>
              <a:rPr lang="it-IT" sz="2800" b="1" dirty="0">
                <a:latin typeface="Aptos" panose="020B0004020202020204" pitchFamily="34" charset="0"/>
              </a:rPr>
              <a:t>intra-classe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</a:t>
            </a:r>
            <a:r>
              <a:rPr lang="it-IT" sz="2800" b="1" dirty="0">
                <a:latin typeface="Aptos" panose="020B0004020202020204" pitchFamily="34" charset="0"/>
              </a:rPr>
              <a:t>classe con intensità più alta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Produce la </a:t>
            </a:r>
            <a:r>
              <a:rPr lang="it-IT" sz="2800" b="1" dirty="0">
                <a:latin typeface="Aptos" panose="020B0004020202020204" pitchFamily="34" charset="0"/>
              </a:rPr>
              <a:t>prima maschera</a:t>
            </a:r>
          </a:p>
        </p:txBody>
      </p:sp>
    </p:spTree>
    <p:extLst>
      <p:ext uri="{BB962C8B-B14F-4D97-AF65-F5344CB8AC3E}">
        <p14:creationId xmlns:p14="http://schemas.microsoft.com/office/powerpoint/2010/main" val="200093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CDC289-D58A-DC5D-8F09-8EC675E72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A8BB7479-C39A-C27C-4289-083A745CFF75}"/>
              </a:ext>
            </a:extLst>
          </p:cNvPr>
          <p:cNvGrpSpPr/>
          <p:nvPr/>
        </p:nvGrpSpPr>
        <p:grpSpPr>
          <a:xfrm>
            <a:off x="7512183" y="1724912"/>
            <a:ext cx="4590769" cy="4253730"/>
            <a:chOff x="7329838" y="1463302"/>
            <a:chExt cx="4590769" cy="425373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FA2ADC5-2976-C15F-B80E-5E2C61024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325" t="7111" r="15854" b="55948"/>
            <a:stretch>
              <a:fillRect/>
            </a:stretch>
          </p:blipFill>
          <p:spPr>
            <a:xfrm>
              <a:off x="7882148" y="1463302"/>
              <a:ext cx="3486150" cy="3724232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96F8A13B-0CE6-03FA-27D8-706B73DA2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29838" y="5321520"/>
              <a:ext cx="4590769" cy="395512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58577FC-68A9-2DF3-5285-0BBA6159C30B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A202E54-63D9-BB3D-733D-1C2FCFC21BC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98DB2DB-DA81-8C98-EF5B-38B1DA5BAC9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A13A892-539F-2D83-E989-63C348B0E98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B80D98C-15D7-64C1-FE20-EC64DC44290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A790CB0-BF4E-BD81-46A0-13F10E4E80F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60B97-55F8-5E60-DCAA-CC5490D130DC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BE4D87-D7F6-C6EE-A45C-797CCD450F44}"/>
              </a:ext>
            </a:extLst>
          </p:cNvPr>
          <p:cNvSpPr txBox="1"/>
          <p:nvPr/>
        </p:nvSpPr>
        <p:spPr>
          <a:xfrm>
            <a:off x="639873" y="1945848"/>
            <a:ext cx="701165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r>
              <a:rPr lang="it-IT" sz="2800" b="1" dirty="0">
                <a:latin typeface="Aptos" panose="020B0004020202020204" pitchFamily="34" charset="0"/>
              </a:rPr>
              <a:t> con Seme Automatico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per </a:t>
            </a:r>
            <a:r>
              <a:rPr lang="it-IT" sz="2800" b="1" dirty="0">
                <a:latin typeface="Aptos" panose="020B0004020202020204" pitchFamily="34" charset="0"/>
              </a:rPr>
              <a:t>crescita della regione</a:t>
            </a:r>
            <a:r>
              <a:rPr lang="it-IT" sz="2800" dirty="0">
                <a:latin typeface="Aptos" panose="020B0004020202020204" pitchFamily="34" charset="0"/>
              </a:rPr>
              <a:t> dal seme iniziale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Si espande </a:t>
            </a:r>
            <a:r>
              <a:rPr lang="it-IT" sz="2800" b="1" dirty="0">
                <a:latin typeface="Aptos" panose="020B0004020202020204" pitchFamily="34" charset="0"/>
              </a:rPr>
              <a:t>iterativamente</a:t>
            </a:r>
            <a:r>
              <a:rPr lang="it-IT" sz="2800" dirty="0">
                <a:latin typeface="Aptos" panose="020B0004020202020204" pitchFamily="34" charset="0"/>
              </a:rPr>
              <a:t> verso i </a:t>
            </a:r>
            <a:r>
              <a:rPr lang="it-IT" sz="2800" b="1" dirty="0">
                <a:latin typeface="Aptos" panose="020B0004020202020204" pitchFamily="34" charset="0"/>
              </a:rPr>
              <a:t>pixel adiacenti</a:t>
            </a:r>
            <a:r>
              <a:rPr lang="it-IT" sz="2800" dirty="0">
                <a:latin typeface="Aptos" panose="020B0004020202020204" pitchFamily="34" charset="0"/>
              </a:rPr>
              <a:t> con un </a:t>
            </a:r>
            <a:r>
              <a:rPr lang="it-IT" sz="2800" b="1" dirty="0">
                <a:latin typeface="Aptos" panose="020B0004020202020204" pitchFamily="34" charset="0"/>
              </a:rPr>
              <a:t>criterio di omogeneità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Soglia calcolata come </a:t>
            </a:r>
            <a:r>
              <a:rPr lang="it-IT" sz="2800" b="1" dirty="0">
                <a:latin typeface="Aptos" panose="020B0004020202020204" pitchFamily="34" charset="0"/>
              </a:rPr>
              <a:t>6° percentile </a:t>
            </a:r>
            <a:r>
              <a:rPr lang="it-IT" sz="2800" dirty="0">
                <a:latin typeface="Aptos" panose="020B0004020202020204" pitchFamily="34" charset="0"/>
              </a:rPr>
              <a:t>delle intensità nella </a:t>
            </a:r>
            <a:r>
              <a:rPr lang="it-IT" sz="2800" b="1" dirty="0">
                <a:latin typeface="Aptos" panose="020B0004020202020204" pitchFamily="34" charset="0"/>
              </a:rPr>
              <a:t>maschera di Otsu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Seleziona la </a:t>
            </a:r>
            <a:r>
              <a:rPr lang="it-IT" sz="2800" b="1" dirty="0">
                <a:latin typeface="Aptos" panose="020B0004020202020204" pitchFamily="34" charset="0"/>
              </a:rPr>
              <a:t>componente connessa </a:t>
            </a:r>
            <a:r>
              <a:rPr lang="it-IT" sz="2800" dirty="0">
                <a:latin typeface="Aptos" panose="020B0004020202020204" pitchFamily="34" charset="0"/>
              </a:rPr>
              <a:t>attorno al seme</a:t>
            </a:r>
          </a:p>
        </p:txBody>
      </p:sp>
    </p:spTree>
    <p:extLst>
      <p:ext uri="{BB962C8B-B14F-4D97-AF65-F5344CB8AC3E}">
        <p14:creationId xmlns:p14="http://schemas.microsoft.com/office/powerpoint/2010/main" val="2167502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967594-F0BC-E4CF-842D-02CC6FC9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20F299A5-1E10-EF9F-0BCA-094EBB9EE2EF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23658B8-A86D-F5D6-D8FD-CD304A8906E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BB2CC926-EB27-9334-762C-951C322A651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54BCE5D-1019-71B8-66F5-1BD0F9D9882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DB7162A-B334-26F2-4FD6-E5009BCCE62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C5E8BD7-39C7-66EE-B505-9EF009111BB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6D525A0-0F46-B489-1CF0-76B6E08553C3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D489704-A057-DDD9-B1F7-971CE80FEAE4}"/>
              </a:ext>
            </a:extLst>
          </p:cNvPr>
          <p:cNvSpPr txBox="1"/>
          <p:nvPr/>
        </p:nvSpPr>
        <p:spPr>
          <a:xfrm>
            <a:off x="639872" y="1872892"/>
            <a:ext cx="72393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Watershed</a:t>
            </a:r>
            <a:r>
              <a:rPr lang="it-IT" sz="2800" b="1" dirty="0">
                <a:latin typeface="Aptos" panose="020B0004020202020204" pitchFamily="34" charset="0"/>
              </a:rPr>
              <a:t> con Marcatori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finale basata sulla </a:t>
            </a:r>
            <a:r>
              <a:rPr lang="it-IT" sz="2800" b="1" dirty="0">
                <a:latin typeface="Aptos" panose="020B0004020202020204" pitchFamily="34" charset="0"/>
              </a:rPr>
              <a:t>morfologia</a:t>
            </a:r>
            <a:r>
              <a:rPr lang="it-IT" sz="2800" dirty="0">
                <a:latin typeface="Aptos" panose="020B0004020202020204" pitchFamily="34" charset="0"/>
              </a:rPr>
              <a:t> della superficie dell’immagine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regioni a partire dai </a:t>
            </a:r>
            <a:r>
              <a:rPr lang="it-IT" sz="2800" b="1" dirty="0">
                <a:latin typeface="Aptos" panose="020B0004020202020204" pitchFamily="34" charset="0"/>
              </a:rPr>
              <a:t>minimi locali della trasformata di distanza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Utilizza </a:t>
            </a:r>
            <a:r>
              <a:rPr lang="it-IT" sz="2800" b="1" dirty="0">
                <a:latin typeface="Aptos" panose="020B0004020202020204" pitchFamily="34" charset="0"/>
              </a:rPr>
              <a:t>marcatori espliciti </a:t>
            </a:r>
            <a:r>
              <a:rPr lang="it-IT" sz="2800" dirty="0">
                <a:latin typeface="Aptos" panose="020B0004020202020204" pitchFamily="34" charset="0"/>
              </a:rPr>
              <a:t>dal </a:t>
            </a:r>
            <a:r>
              <a:rPr lang="it-IT" sz="2800" dirty="0" err="1">
                <a:latin typeface="Aptos" panose="020B0004020202020204" pitchFamily="34" charset="0"/>
              </a:rPr>
              <a:t>Region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Growing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Produce una </a:t>
            </a:r>
            <a:r>
              <a:rPr lang="it-IT" sz="2800" b="1" dirty="0">
                <a:latin typeface="Aptos" panose="020B0004020202020204" pitchFamily="34" charset="0"/>
              </a:rPr>
              <a:t>maschera finale più precisa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B8CDAF70-E3EA-B9F0-5DE3-3A6A03C13FCA}"/>
              </a:ext>
            </a:extLst>
          </p:cNvPr>
          <p:cNvGrpSpPr/>
          <p:nvPr/>
        </p:nvGrpSpPr>
        <p:grpSpPr>
          <a:xfrm>
            <a:off x="8174601" y="1677287"/>
            <a:ext cx="3600578" cy="4515780"/>
            <a:chOff x="7839203" y="1724912"/>
            <a:chExt cx="3600578" cy="451578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DBC3EB1A-1C14-D6AA-1C67-094B6B51F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36" t="53020" r="59829" b="10038"/>
            <a:stretch>
              <a:fillRect/>
            </a:stretch>
          </p:blipFill>
          <p:spPr>
            <a:xfrm>
              <a:off x="7839203" y="1724912"/>
              <a:ext cx="3505200" cy="3724275"/>
            </a:xfrm>
            <a:prstGeom prst="rect">
              <a:avLst/>
            </a:prstGeom>
          </p:spPr>
        </p:pic>
        <p:grpSp>
          <p:nvGrpSpPr>
            <p:cNvPr id="21" name="Gruppo 20">
              <a:extLst>
                <a:ext uri="{FF2B5EF4-FFF2-40B4-BE49-F238E27FC236}">
                  <a16:creationId xmlns:a16="http://schemas.microsoft.com/office/drawing/2014/main" id="{6106C42C-6376-7C2A-E923-D74FB33D5EBC}"/>
                </a:ext>
              </a:extLst>
            </p:cNvPr>
            <p:cNvGrpSpPr/>
            <p:nvPr/>
          </p:nvGrpSpPr>
          <p:grpSpPr>
            <a:xfrm>
              <a:off x="7934580" y="5449187"/>
              <a:ext cx="3505201" cy="791505"/>
              <a:chOff x="8029389" y="5543751"/>
              <a:chExt cx="3505201" cy="791505"/>
            </a:xfrm>
          </p:grpSpPr>
          <p:pic>
            <p:nvPicPr>
              <p:cNvPr id="20" name="Immagine 19">
                <a:extLst>
                  <a:ext uri="{FF2B5EF4-FFF2-40B4-BE49-F238E27FC236}">
                    <a16:creationId xmlns:a16="http://schemas.microsoft.com/office/drawing/2014/main" id="{36C47B99-A44B-0EC6-EA6F-BEB981160C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9389" y="5897106"/>
                <a:ext cx="3505201" cy="438150"/>
              </a:xfrm>
              <a:prstGeom prst="rect">
                <a:avLst/>
              </a:prstGeom>
            </p:spPr>
          </p:pic>
          <p:pic>
            <p:nvPicPr>
              <p:cNvPr id="17" name="Immagine 16">
                <a:extLst>
                  <a:ext uri="{FF2B5EF4-FFF2-40B4-BE49-F238E27FC236}">
                    <a16:creationId xmlns:a16="http://schemas.microsoft.com/office/drawing/2014/main" id="{E19DF399-A1E8-DD2F-69C4-4788FDABF7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77024" y="5543751"/>
                <a:ext cx="2613522" cy="43815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307485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84F68DB0-B4C8-E170-7495-E166674B7D7F}"/>
              </a:ext>
            </a:extLst>
          </p:cNvPr>
          <p:cNvSpPr txBox="1"/>
          <p:nvPr/>
        </p:nvSpPr>
        <p:spPr>
          <a:xfrm>
            <a:off x="609600" y="381000"/>
            <a:ext cx="5905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Post-Processing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7133A27-DBCD-5648-E637-26E9C1C57317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6" name="object 9">
            <a:extLst>
              <a:ext uri="{FF2B5EF4-FFF2-40B4-BE49-F238E27FC236}">
                <a16:creationId xmlns:a16="http://schemas.microsoft.com/office/drawing/2014/main" id="{95955274-8E1B-5361-5229-F20368C8893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7" name="object 10">
              <a:extLst>
                <a:ext uri="{FF2B5EF4-FFF2-40B4-BE49-F238E27FC236}">
                  <a16:creationId xmlns:a16="http://schemas.microsoft.com/office/drawing/2014/main" id="{F8D935B3-449B-0F5C-018B-1794D440607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11">
              <a:extLst>
                <a:ext uri="{FF2B5EF4-FFF2-40B4-BE49-F238E27FC236}">
                  <a16:creationId xmlns:a16="http://schemas.microsoft.com/office/drawing/2014/main" id="{5ABCC1E9-5E2B-848B-C553-3AFF95D1C1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EABA1C-862A-D10F-BA1F-CD8B3E922085}"/>
              </a:ext>
            </a:extLst>
          </p:cNvPr>
          <p:cNvSpPr txBox="1"/>
          <p:nvPr/>
        </p:nvSpPr>
        <p:spPr>
          <a:xfrm>
            <a:off x="11671423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20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FC604BD-67DF-4850-ED49-8374DF86A00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EE2229B-012F-844D-6E60-CC686B1BC6E7}"/>
              </a:ext>
            </a:extLst>
          </p:cNvPr>
          <p:cNvSpPr txBox="1"/>
          <p:nvPr/>
        </p:nvSpPr>
        <p:spPr>
          <a:xfrm>
            <a:off x="572276" y="1997167"/>
            <a:ext cx="742405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Obiettivo: rifinire la maschera ottenuta </a:t>
            </a:r>
            <a:r>
              <a:rPr lang="it-IT" sz="2800" dirty="0">
                <a:latin typeface="Aptos" panose="020B0004020202020204" pitchFamily="34" charset="0"/>
              </a:rPr>
              <a:t>e rimuovere regioni spurie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Chiusura morfologica e riempimento dei vuoti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Eliminazione di piccole regioni non significative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componente connessa principale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DDAA66E1-B956-CF89-83F9-382CEC999077}"/>
              </a:ext>
            </a:extLst>
          </p:cNvPr>
          <p:cNvGrpSpPr/>
          <p:nvPr/>
        </p:nvGrpSpPr>
        <p:grpSpPr>
          <a:xfrm>
            <a:off x="8565487" y="334345"/>
            <a:ext cx="3036938" cy="6062806"/>
            <a:chOff x="8369545" y="238401"/>
            <a:chExt cx="3036938" cy="6062806"/>
          </a:xfrm>
        </p:grpSpPr>
        <p:pic>
          <p:nvPicPr>
            <p:cNvPr id="3" name="Immagine 2">
              <a:extLst>
                <a:ext uri="{FF2B5EF4-FFF2-40B4-BE49-F238E27FC236}">
                  <a16:creationId xmlns:a16="http://schemas.microsoft.com/office/drawing/2014/main" id="{6E04F957-8994-B0DD-790E-E15D377FC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23" t="17021" r="52202" b="22348"/>
            <a:stretch>
              <a:fillRect/>
            </a:stretch>
          </p:blipFill>
          <p:spPr>
            <a:xfrm>
              <a:off x="8369545" y="238401"/>
              <a:ext cx="3036937" cy="303140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CA2BACFE-7D70-2DC9-F789-AC2FD6021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5332" t="17021" r="8092" b="22348"/>
            <a:stretch>
              <a:fillRect/>
            </a:stretch>
          </p:blipFill>
          <p:spPr>
            <a:xfrm>
              <a:off x="8369546" y="3269804"/>
              <a:ext cx="3036937" cy="30314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4849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8063A84-A79C-DFF6-DE6B-D59EA582B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C01E97-E63C-E1EF-EDA3-54F542AE7309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B649D98-B8AE-E041-3CDC-684FBCE0968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6CFB9A1E-3273-859E-A1F5-68F97DF8194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D17E7DC-CA6B-ED93-11A9-96A0396C9B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3F6FD0B-E5CE-2E0A-E828-5B3AAC5E54B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17CF2E1-408B-4283-A62B-E8031EB2AB6E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06EA26A7-EAE8-D9F3-EABB-B3DD9D6B1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662229"/>
              </p:ext>
            </p:extLst>
          </p:nvPr>
        </p:nvGraphicFramePr>
        <p:xfrm>
          <a:off x="746125" y="3646662"/>
          <a:ext cx="8128000" cy="2306577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</a:tblGrid>
              <a:tr h="452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Configurazione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Dice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Precision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FLAIR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T1c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0.520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0.428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0.893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Fusion2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0.842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0.744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0.935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0209419"/>
                  </a:ext>
                </a:extLst>
              </a:tr>
            </a:tbl>
          </a:graphicData>
        </a:graphic>
      </p:graphicFrame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33A6F0E-F6FD-E55C-F706-CEF8BE619147}"/>
              </a:ext>
            </a:extLst>
          </p:cNvPr>
          <p:cNvSpPr txBox="1"/>
          <p:nvPr/>
        </p:nvSpPr>
        <p:spPr>
          <a:xfrm>
            <a:off x="657225" y="1488756"/>
            <a:ext cx="8305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Metriche Numeriche Aggregate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migliore in media </a:t>
            </a:r>
            <a:r>
              <a:rPr lang="it-IT" sz="2800" dirty="0">
                <a:latin typeface="Aptos" panose="020B0004020202020204" pitchFamily="34" charset="0"/>
              </a:rPr>
              <a:t>su tutto il dataset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FLAIR buona singolarmente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T1c precisa ma spesso incompleta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FAEB2E43-7EA2-9759-6545-E08D0EF43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0" y="1989636"/>
            <a:ext cx="3181338" cy="1245705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51E0F49B-30E2-9BFB-5EE6-2FBD6B20B75A}"/>
              </a:ext>
            </a:extLst>
          </p:cNvPr>
          <p:cNvGrpSpPr/>
          <p:nvPr/>
        </p:nvGrpSpPr>
        <p:grpSpPr>
          <a:xfrm>
            <a:off x="9048766" y="3749934"/>
            <a:ext cx="2762222" cy="2100033"/>
            <a:chOff x="9124966" y="3731590"/>
            <a:chExt cx="2762222" cy="2100033"/>
          </a:xfrm>
        </p:grpSpPr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6DEF68A5-76FE-8795-124A-8D4A0B763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24966" y="3731590"/>
              <a:ext cx="2762222" cy="647069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EBFC6D92-A27B-3CE1-82B3-C2D49576D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24966" y="4465385"/>
              <a:ext cx="2762222" cy="627468"/>
            </a:xfrm>
            <a:prstGeom prst="rect">
              <a:avLst/>
            </a:prstGeom>
          </p:spPr>
        </p:pic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F833A282-90A9-D70E-FD66-DFA4D000D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67279" y="5266304"/>
              <a:ext cx="2395876" cy="5653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5118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782DC5-51BF-6707-4E0B-14D46471B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0B9BBB0-58BA-9815-1881-886BE346560C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F8ECB76-3F82-D3DF-5380-6E007B733A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C52FD1FE-86F2-3F20-10BA-64DD9974532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4A0F0F2-86CF-A348-CC38-BDBE51D9FED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71D956-FAC1-D417-16AC-E521D3C6204F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4D67425-C849-DA65-B5A8-4D99FB068AB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396C5E0-D0D1-9CA4-C36C-3209EBAF0BAC}"/>
              </a:ext>
            </a:extLst>
          </p:cNvPr>
          <p:cNvSpPr txBox="1"/>
          <p:nvPr/>
        </p:nvSpPr>
        <p:spPr>
          <a:xfrm>
            <a:off x="657225" y="1488756"/>
            <a:ext cx="98107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Rappresentativi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multimodalità </a:t>
            </a:r>
            <a:r>
              <a:rPr lang="it-IT" sz="2800" b="1" dirty="0">
                <a:latin typeface="Aptos" panose="020B0004020202020204" pitchFamily="34" charset="0"/>
              </a:rPr>
              <a:t>non sempre migliore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è spesso la migliore</a:t>
            </a:r>
            <a:r>
              <a:rPr lang="it-IT" sz="2800" dirty="0">
                <a:latin typeface="Aptos" panose="020B0004020202020204" pitchFamily="34" charset="0"/>
              </a:rPr>
              <a:t>, ma non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Esistono casi in cui la pipeline </a:t>
            </a:r>
            <a:r>
              <a:rPr lang="it-IT" sz="2800" b="1" dirty="0">
                <a:latin typeface="Aptos" panose="020B0004020202020204" pitchFamily="34" charset="0"/>
              </a:rPr>
              <a:t>fallisce completamente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E4DDC3C4-7C3B-170E-E847-DE3128DF8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731957"/>
              </p:ext>
            </p:extLst>
          </p:nvPr>
        </p:nvGraphicFramePr>
        <p:xfrm>
          <a:off x="657225" y="3913923"/>
          <a:ext cx="7797800" cy="1942143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651318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120523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1087755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  <a:gridCol w="1346517">
                  <a:extLst>
                    <a:ext uri="{9D8B030D-6E8A-4147-A177-3AD203B41FA5}">
                      <a16:colId xmlns:a16="http://schemas.microsoft.com/office/drawing/2014/main" val="158448929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43600087"/>
                    </a:ext>
                  </a:extLst>
                </a:gridCol>
              </a:tblGrid>
              <a:tr h="458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Paziente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FLAIR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T1c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Fusion2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BRATS_128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0.645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0.963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BRATS_248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0.974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0.534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BRATS_140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0.271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0.680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BRATS_380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</a:tbl>
          </a:graphicData>
        </a:graphic>
      </p:graphicFrame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0E620F-3D13-1C6B-DA4B-FBA91D19DD2B}"/>
              </a:ext>
            </a:extLst>
          </p:cNvPr>
          <p:cNvSpPr txBox="1"/>
          <p:nvPr/>
        </p:nvSpPr>
        <p:spPr>
          <a:xfrm>
            <a:off x="9109187" y="3453833"/>
            <a:ext cx="256223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Migliori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BRATS_128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BRATS_248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endParaRPr lang="it-IT" sz="1050" b="1" dirty="0">
              <a:latin typeface="Aptos" panose="020B0004020202020204" pitchFamily="34" charset="0"/>
            </a:endParaRPr>
          </a:p>
          <a:p>
            <a:pPr lvl="1" algn="just"/>
            <a:r>
              <a:rPr lang="it-IT" sz="2800" b="1" dirty="0">
                <a:latin typeface="Aptos" panose="020B0004020202020204" pitchFamily="34" charset="0"/>
              </a:rPr>
              <a:t>Casi Peggiori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BRATS_140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BRATS_380</a:t>
            </a:r>
          </a:p>
        </p:txBody>
      </p:sp>
    </p:spTree>
    <p:extLst>
      <p:ext uri="{BB962C8B-B14F-4D97-AF65-F5344CB8AC3E}">
        <p14:creationId xmlns:p14="http://schemas.microsoft.com/office/powerpoint/2010/main" val="403534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1AB884-08F0-3827-B2D8-CC5974EF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1C6CA79E-E915-1857-F4D0-E8C834C47307}"/>
              </a:ext>
            </a:extLst>
          </p:cNvPr>
          <p:cNvGrpSpPr/>
          <p:nvPr/>
        </p:nvGrpSpPr>
        <p:grpSpPr>
          <a:xfrm>
            <a:off x="263598" y="1756901"/>
            <a:ext cx="11855303" cy="4076623"/>
            <a:chOff x="247649" y="1894631"/>
            <a:chExt cx="11855303" cy="4076623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73BF9D1-737B-2457-5AA5-03B791304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0" t="6082" r="6833" b="1962"/>
            <a:stretch>
              <a:fillRect/>
            </a:stretch>
          </p:blipFill>
          <p:spPr>
            <a:xfrm>
              <a:off x="6169928" y="1894631"/>
              <a:ext cx="5933024" cy="407662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F23085E3-132A-436E-1023-E5A8517BC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34" t="6081" r="6949" b="9367"/>
            <a:stretch>
              <a:fillRect/>
            </a:stretch>
          </p:blipFill>
          <p:spPr>
            <a:xfrm>
              <a:off x="247649" y="1894632"/>
              <a:ext cx="5933024" cy="3748374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E20B981-42A8-892C-5B8A-6A3D5B51463D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Migliori BRATS_128 e BRATS_248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F3F82C-91DC-80E9-1E75-7B40894ECA34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4E66E4D-C36C-C2FA-3859-62B2AFCA1C7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DCDA070-549D-5F0B-2171-DE3E34E7ECC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1EDD2E7-5B52-57C8-C635-DAEA4A2890E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10A6EB-AE84-6EFE-BB57-3DE17C9795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BBC1B96-A6FA-3EC4-E11F-2A85E2D047AF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8B297-C28C-515E-38BC-1CF06861BAED}"/>
              </a:ext>
            </a:extLst>
          </p:cNvPr>
          <p:cNvSpPr txBox="1"/>
          <p:nvPr/>
        </p:nvSpPr>
        <p:spPr>
          <a:xfrm>
            <a:off x="263598" y="5651792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BRATS_128: </a:t>
            </a:r>
            <a:r>
              <a:rPr lang="it-IT" sz="2000" dirty="0"/>
              <a:t>Fusion3 beneficia delle informazioni multimodali e ottiene il Dice migliore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BRATS_248: </a:t>
            </a:r>
            <a:r>
              <a:rPr lang="it-IT" sz="2000" dirty="0">
                <a:latin typeface="Aptos" panose="020B0004020202020204" pitchFamily="34" charset="0"/>
              </a:rPr>
              <a:t>FLAIR già sufficiente e </a:t>
            </a:r>
            <a:r>
              <a:rPr lang="it-IT" sz="2000" dirty="0"/>
              <a:t>la fusione mantiene il risultato elevato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32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E90F1E-EF6F-FB8A-44E2-84FA29013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4F66BCB3-E432-5B6F-B3AE-BC943090DFCF}"/>
              </a:ext>
            </a:extLst>
          </p:cNvPr>
          <p:cNvGrpSpPr/>
          <p:nvPr/>
        </p:nvGrpSpPr>
        <p:grpSpPr>
          <a:xfrm>
            <a:off x="216958" y="1768327"/>
            <a:ext cx="11928402" cy="4115151"/>
            <a:chOff x="206448" y="2021951"/>
            <a:chExt cx="11928402" cy="4115151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086903E-EE52-8883-C566-EFC67F6ED6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3" t="6045" r="5876" b="9517"/>
            <a:stretch>
              <a:fillRect/>
            </a:stretch>
          </p:blipFill>
          <p:spPr>
            <a:xfrm>
              <a:off x="206448" y="2021951"/>
              <a:ext cx="6051477" cy="3773393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7D476E0B-4772-CCD0-9C4F-DCA28F86F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94" t="7658" r="6789" b="1731"/>
            <a:stretch>
              <a:fillRect/>
            </a:stretch>
          </p:blipFill>
          <p:spPr>
            <a:xfrm>
              <a:off x="6162675" y="2093598"/>
              <a:ext cx="5972175" cy="4043504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CB911BE-F9CC-019E-B7CE-16ECBB830C57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05A1717-47F7-050B-E17E-70944FA2346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12DA18E-8723-8ED5-E28D-B498CBAB6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3111E87-A9AF-466B-B5D5-F8856BEBD65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4B30B5F-E434-FE7D-B111-211714CD668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D0DBB36-B449-31AD-653E-D360AE4A893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5AC3B4-CF79-A7A1-9190-632B24F61C19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Peggiori BRATS_140 e BRATS_380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E4AD14C-F261-EDA1-9A01-C8BADE8E7F08}"/>
              </a:ext>
            </a:extLst>
          </p:cNvPr>
          <p:cNvSpPr txBox="1"/>
          <p:nvPr/>
        </p:nvSpPr>
        <p:spPr>
          <a:xfrm>
            <a:off x="263598" y="5658765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BRATS_140: </a:t>
            </a:r>
            <a:r>
              <a:rPr lang="it-IT" sz="2000" dirty="0"/>
              <a:t>Fusion2 fornisce un risultato discretamente utile, mentre Fusion3 fallisce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BRATS_380: </a:t>
            </a:r>
            <a:r>
              <a:rPr lang="it-IT" sz="2000" dirty="0"/>
              <a:t>fallimento completo della pipeline in tutte le configurazioni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362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17CD18-628C-26ED-8BE4-B954D1A1C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698373-EC99-3EFA-15CA-9130EA138072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BB74026-5829-4FEE-0A68-2BC1B0499304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4BD403F-A04F-37D7-1005-8AF922EA758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00CB054-1E4B-78D9-A7B3-C8719DEF488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2016FD-9BD7-E286-8CC6-5D45EC575B04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92B2A07-88CB-EAC9-92B2-2156D11A7EC0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6217CB6-5094-5287-40C9-08BF17F5CB12}"/>
              </a:ext>
            </a:extLst>
          </p:cNvPr>
          <p:cNvSpPr txBox="1"/>
          <p:nvPr/>
        </p:nvSpPr>
        <p:spPr>
          <a:xfrm>
            <a:off x="609600" y="1644869"/>
            <a:ext cx="908093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</a:t>
            </a:r>
            <a:r>
              <a:rPr lang="it-IT" sz="2800" dirty="0">
                <a:latin typeface="Aptos" panose="020B0004020202020204" pitchFamily="34" charset="0"/>
              </a:rPr>
              <a:t> è la configurazione con le </a:t>
            </a:r>
            <a:r>
              <a:rPr lang="it-IT" sz="2800" b="1" dirty="0">
                <a:latin typeface="Aptos" panose="020B0004020202020204" pitchFamily="34" charset="0"/>
              </a:rPr>
              <a:t>migliori prestazioni medie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FLAIR </a:t>
            </a:r>
            <a:r>
              <a:rPr lang="it-IT" sz="2800" dirty="0">
                <a:latin typeface="Aptos" panose="020B0004020202020204" pitchFamily="34" charset="0"/>
              </a:rPr>
              <a:t>risulta </a:t>
            </a:r>
            <a:r>
              <a:rPr lang="it-IT" sz="2800" b="1" dirty="0">
                <a:latin typeface="Aptos" panose="020B0004020202020204" pitchFamily="34" charset="0"/>
              </a:rPr>
              <a:t>la sequenza singola più informativa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</a:t>
            </a:r>
            <a:r>
              <a:rPr lang="it-IT" sz="2800" b="1" dirty="0">
                <a:latin typeface="Aptos" panose="020B0004020202020204" pitchFamily="34" charset="0"/>
              </a:rPr>
              <a:t>multimodalità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migliora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la segmentazione</a:t>
            </a:r>
            <a:r>
              <a:rPr lang="it-IT" sz="2800" dirty="0">
                <a:latin typeface="Aptos" panose="020B0004020202020204" pitchFamily="34" charset="0"/>
              </a:rPr>
              <a:t>, ma non garantisce robustezza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Casi critici </a:t>
            </a:r>
            <a:r>
              <a:rPr lang="it-IT" sz="2800" dirty="0">
                <a:latin typeface="Aptos" panose="020B0004020202020204" pitchFamily="34" charset="0"/>
              </a:rPr>
              <a:t>che evidenziano i </a:t>
            </a:r>
            <a:r>
              <a:rPr lang="it-IT" sz="2800" b="1" dirty="0">
                <a:latin typeface="Aptos" panose="020B0004020202020204" pitchFamily="34" charset="0"/>
              </a:rPr>
              <a:t>limiti dell’approccio 2D </a:t>
            </a:r>
            <a:r>
              <a:rPr lang="it-IT" sz="2800" dirty="0">
                <a:latin typeface="Aptos" panose="020B0004020202020204" pitchFamily="34" charset="0"/>
              </a:rPr>
              <a:t>e delle tecniche tradizionali di Image Processing</a:t>
            </a:r>
          </a:p>
        </p:txBody>
      </p:sp>
      <p:pic>
        <p:nvPicPr>
          <p:cNvPr id="1028" name="Picture 4" descr="Exam Result PNGs for Free Download">
            <a:extLst>
              <a:ext uri="{FF2B5EF4-FFF2-40B4-BE49-F238E27FC236}">
                <a16:creationId xmlns:a16="http://schemas.microsoft.com/office/drawing/2014/main" id="{6CB1B5BB-37DB-4251-4003-7A4FA0980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2275" y="2580445"/>
            <a:ext cx="1865274" cy="1865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1470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68CB775-834E-60A7-C320-FF525B410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8EC67D6-EB8F-C03A-CFDF-FEC75D783CB9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02B97403-A6B1-3ED6-C111-AC72F36F73A2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B71A86D-FCA4-3A19-F364-8E96BCA752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5982600-7A61-6783-C74B-A8FC1CFB4E1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810969-27C2-6535-3260-9A55AF4B3B67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45D0531-EB45-A81F-D00E-93E969CE74E7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5B3D4CC-C410-6E15-E474-F32F10B7AFF1}"/>
              </a:ext>
            </a:extLst>
          </p:cNvPr>
          <p:cNvSpPr txBox="1"/>
          <p:nvPr/>
        </p:nvSpPr>
        <p:spPr>
          <a:xfrm>
            <a:off x="672662" y="1396663"/>
            <a:ext cx="1084667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Sviluppi Futuri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Estensione della pipeline </a:t>
            </a:r>
            <a:r>
              <a:rPr lang="it-IT" sz="2800" b="1" dirty="0">
                <a:latin typeface="Aptos" panose="020B0004020202020204" pitchFamily="34" charset="0"/>
              </a:rPr>
              <a:t>da 2D a 3D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Diverse strategie di fusione </a:t>
            </a:r>
            <a:r>
              <a:rPr lang="it-IT" sz="2800" dirty="0">
                <a:latin typeface="Aptos" panose="020B0004020202020204" pitchFamily="34" charset="0"/>
              </a:rPr>
              <a:t>multimodale più avanzate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Confronto con </a:t>
            </a:r>
            <a:r>
              <a:rPr lang="it-IT" sz="2800" b="1" dirty="0">
                <a:latin typeface="Aptos" panose="020B0004020202020204" pitchFamily="34" charset="0"/>
              </a:rPr>
              <a:t>altri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approcci classici</a:t>
            </a:r>
            <a:r>
              <a:rPr lang="it-IT" sz="2800" dirty="0">
                <a:latin typeface="Aptos" panose="020B0004020202020204" pitchFamily="34" charset="0"/>
              </a:rPr>
              <a:t>, ad esempio K-Means e metodi Edge-</a:t>
            </a:r>
            <a:r>
              <a:rPr lang="it-IT" sz="2800" dirty="0" err="1">
                <a:latin typeface="Aptos" panose="020B0004020202020204" pitchFamily="34" charset="0"/>
              </a:rPr>
              <a:t>Based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Integrazione e confronto con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       tecniche di </a:t>
            </a:r>
            <a:r>
              <a:rPr lang="it-IT" sz="2800" b="1" dirty="0">
                <a:latin typeface="Aptos" panose="020B0004020202020204" pitchFamily="34" charset="0"/>
              </a:rPr>
              <a:t>Machine Learning e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       Deep Learning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33E9C42F-2060-F6D4-4E58-648AC05A6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9144" y="4395500"/>
            <a:ext cx="5524827" cy="1699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97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7311FD-176A-901D-861C-EC4DC40D7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30F8B961-C8D8-E606-8AA3-29F063CC30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3C139E-A6CB-B15A-5287-7279220B73A3}"/>
              </a:ext>
            </a:extLst>
          </p:cNvPr>
          <p:cNvSpPr txBox="1"/>
          <p:nvPr/>
        </p:nvSpPr>
        <p:spPr>
          <a:xfrm>
            <a:off x="1932847" y="2921168"/>
            <a:ext cx="83263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b="1" dirty="0">
                <a:latin typeface="Aptos" panose="020B0004020202020204" pitchFamily="34" charset="0"/>
              </a:rPr>
              <a:t>Grazie per </a:t>
            </a:r>
            <a:r>
              <a:rPr lang="en-US" sz="6000" b="1" dirty="0" err="1">
                <a:latin typeface="Aptos" panose="020B0004020202020204" pitchFamily="34" charset="0"/>
              </a:rPr>
              <a:t>l’attenzione</a:t>
            </a:r>
            <a:endParaRPr lang="it-IT" sz="6000" b="1" dirty="0">
              <a:latin typeface="Aptos" panose="020B0004020202020204" pitchFamily="34" charset="0"/>
            </a:endParaRPr>
          </a:p>
        </p:txBody>
      </p:sp>
      <p:grpSp>
        <p:nvGrpSpPr>
          <p:cNvPr id="9" name="object 9">
            <a:extLst>
              <a:ext uri="{FF2B5EF4-FFF2-40B4-BE49-F238E27FC236}">
                <a16:creationId xmlns:a16="http://schemas.microsoft.com/office/drawing/2014/main" id="{F3E93331-21CA-ED97-54E2-CF7DC551C84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057F53A2-C3F6-9230-A130-9FABE4AABB2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57A6F2C-3CD5-EFE7-DBC2-461ACAD329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61F47A1-B298-647D-D4E2-0A57CBC3A14B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D3CCFD-59A5-77A9-0B2E-E61FDF5C2448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Image Processing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936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3299</TotalTime>
  <Words>3188</Words>
  <Application>Microsoft Office PowerPoint</Application>
  <PresentationFormat>Widescreen</PresentationFormat>
  <Paragraphs>397</Paragraphs>
  <Slides>28</Slides>
  <Notes>28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Giovanni Mignogna</dc:creator>
  <cp:lastModifiedBy>Roberto Carriero</cp:lastModifiedBy>
  <cp:revision>48</cp:revision>
  <dcterms:created xsi:type="dcterms:W3CDTF">2025-10-25T17:39:58Z</dcterms:created>
  <dcterms:modified xsi:type="dcterms:W3CDTF">2026-04-16T16:45:22Z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2025-10-06T00:00:00Z</vt:filetime>
  </property>
  <property fmtid="{D5CDD505-2E9C-101B-9397-08002B2CF9AE}" pid="3" name="Creator">
    <vt:lpwstr>Microsoft® PowerPoint® per Microsoft 365</vt:lpwstr>
  </property>
  <property fmtid="{D5CDD505-2E9C-101B-9397-08002B2CF9AE}" pid="4" name="LastSaved">
    <vt:filetime>2025-10-25T00:00:00Z</vt:filetime>
  </property>
  <property fmtid="{D5CDD505-2E9C-101B-9397-08002B2CF9AE}" pid="5" name="Producer">
    <vt:lpwstr>Microsoft® PowerPoint® per Microsoft 365</vt:lpwstr>
  </property>
</Properties>
</file>