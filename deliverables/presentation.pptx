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Apri subito con il problema: segmentazione del tumore cerebrale su MRI, confronto tra mono e multimodalità.
- Dì che hai volutamente scelto tecniche classiche e interpretabili, non deep learning.
- Anticipa il risultato finale: Fusion3 è la configurazione migliore in media.
[Sources]
- image_processing_report.pdf
- 248_comparison_results.png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Qui devi chiarire il perché del lavoro: non solo fare la segmentazione, ma farla in modo interpretabile.
- Sottolinea che il focus non è battere il deep learning, ma capire cosa succede nella pipeline.
- Chiudi la slide dicendo che l’ipotesi è: integrare FLAIR, T1c e T2 migliora il risultato.
[Sources]
- image_processing_report.pdf
- a_flowchart_diagram_of_a_brain_tumor_mri_segmentat.png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Dì subito che lavori sui dati annotati di BraTS per poter valutare quantitativamente.
- Se ti chiedono perché 2D, rispondi: scelta coerente con il tempo del progetto e utile per capire a fondo la pipeline.
- Anticipa che la slice non è scelta manualmente nella pipeline finale.
[Sources]
- image_processing_report.pdf
- Raw_sequences.png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è una slide fondamentale per evitare domande: devi spiegare bene perché non hai usato tutte le sequenze allo stesso modo.
- Motiva in particolare l’esclusione della T1 dalle fusioni: è soprattutto riferimento anatomico, non modalità forte per isolare il tumore.
- Concludi dicendo che la fusione ha senso proprio perché le sequenze sono complementari e non ridondanti.
[Sources]
- image_processing_report.pdf
- Raw_sequences.png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è la mappa dell’esposizione: puoi tornarci mentalmente per non perderti.
- Dedica pochi secondi a ogni blocco e prometti che li approfondirai nelle slide successive.
- Se il prof chiede “dove avviene davvero il guadagno?”, anticipa: soprattutto in pre-processing multimodale e localizzazione del seed.
[Sources]
- image_processing_report.pdf
- a_flowchart_diagram_of_a_brain_tumor_mri_segmentat.png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Qui devi far vedere che il progetto è strutturato bene, non un insieme di script scollegati.
- Sottolinea che il main richiama in sequenza tutti i moduli e salva sia risultati numerici sia grafici.
- Questo ti aiuta a rispondere a eventuali domande sul flusso software.
[Sources]
- image_processing_report.pdf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Qui non restare troppo: l’EDA serve a motivare le scelte successive, non è il cuore del progetto.
- Fai notare che le quattro sequenze non sono direttamente confrontabili come intensità e quindi serve il pre-processing.
- Se ti chiedono CLAHE: rispondi che è stato utile come analisi esplorativa, non come blocco definitivo della pipeline.
[Sources]
- image_processing_report.pdf
- Raw_sequences.png
- CLAHE_sequences.png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è una slide tecnica importante: spiega che il pre-processing non è cosmetico, ma necessario per rendere robusta la segmentazione.
- Sottolinea che la normalizzazione è applicata ai pixel cerebrali e non allo sfondo.
- Se ti chiedono perché il filtro mediano: preserva meglio i bordi rispetto a un filtraggio lineare semplice.
[Sources]
- image_processing_report.pdf
- 13_FLAIR_pre_processing.png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serve a motivare i pesi: non sono casuali ma coerenti con il ruolo clinico delle sequenze.
- Spiega che Fusion2 è la prova di una fusione minima, mentre Fusion3 è la versione completa.
- Se ti chiedono della T1, ricordati: non è entrata in fusione perché è più utile come riferimento anatomico che come contrasto tumorale.
[Sources]
- image_processing_report.pdf
- 13_Fusion2_pre_processing.png
- 13_Fusion3_pre_processing.png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è utile per prevenire domande sul perché di sigma uguale a 3.
- Mostra che non è una scelta arbitraria: hai fatto prove e guardato l’andamento del Dice medio.
- Insisti sul ruolo della seed map: non segmenta, ma aiuta a inizializzare correttamente il Region Growing.
[Sources]
- image_processing_report.pdf
- 13_seed_map.png
- sigma_dice.png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Qui devi scandire bene i tre passaggi: inizializzazione, crescita, raffinamento.
- Se il prof chiede perché non fermarsi a Otsu: rispondi che Otsu da solo è troppo sensibile a regioni spurie.
- Ricorda che il Region Growing è implementato from scratch con coda statica e 8-connettività.
[Sources]
- image_processing_report.pdf
- 218_Fusion3_segmentation.png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Qui parla in modo molto diretto: queste sono le tre scelte che il docente potrebbe chiederti di giustificare.
- Non essere difensivo: spiega che sono scelte coerenti con il perimetro del progetto e supportate dai risultati.
- Se vuoi guadagnare sicurezza, puoi chiudere dicendo che un’estensione naturale è il passaggio al 3D.
[Sources]
- image_processing_report.pdf
- detailed.csv
- global.csv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ti serve per far vedere il limite delle modalità singole.
- Comincia da FLAIR, poi T1c, poi T2: è un ordine naturale e facile da seguire.
- La frase finale importante è: le sequenze singole sono utili, ma parziali.
[Sources]
- image_processing_report.pdf
- 218_FLAIR_segmentation.png
- 218_T1c_segmentation.png
- 218_T2_segmentation.png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è una delle slide più importanti: qui spieghi dove avviene davvero il guadagno della multimodalità.
- La catena da pronunciare è: migliore rappresentazione → migliore Otsu → seed più affidabile → crescita più coerente → raffinamento migliore.
- Concludi dicendo che il post-processing non crea informazione nuova, ma pulisce e regolarizza.
[Sources]
- image_processing_report.pdf
- 218_Fusion2_segmentation.png
- 218_Fusion3_segmentation.png
- 218_Fusion3_post_processing.png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Su questa slide devi essere molto chiaro e rapido: 1 metrica = 1 significato pratico.
- La frase importante è: non basta il Dice, perché posso avere sensibilità alta ma precisione bassa, e viceversa.
- Se il prof insiste, usa l’esempio intuitivo: segnalare troppo tumore aumenta i recall ma peggiora la precisione.
[Sources]
- image_processing_report.pdf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ti dà il risultato numerico centrale: Fusion3 è la migliore in media con Dice 0.806.
- Sottolinea anche che FLAIR da sola è già forte: questo rende il confronto più interessante e credibile.
- Se ti chiedono perché T1c ha precision alta ma Dice basso, rispondi che individua zone molto selettive ma incomplete.
[Sources]
- global.csv
- image_processing_report.pdf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tabella ti aiuta a introdurre i casi studio senza partire subito dalle figure.
- Leggila per righe, non per colonne: ogni paziente racconta un fenomeno diverso della pipeline.
- La cosa importante è mostrare che i risultati non sono casuali ma interpretabili.
[Sources]
- detailed.csv
- image_processing_report.pdf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Per BRATS_128 spiega il fenomeno più interessante: Fusion3 compensa una T1c sbagliata grazie al contributo di FLAIR e T2.
- Per BRATS_248 spiega l’opposto: il caso è già favorevole e la fusione non stravolge, ma mantiene alto il risultato.
- Questa slide serve a collegare i buoni numeri ai passaggi concreti della pipeline.
[Sources]
- 128_comparison_results.png
- 248_comparison_results.png
- detailed.csv
- image_processing_report.pdf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è preziosa per evitare domande critiche: fai vedere che conosci bene i limiti del metodo.
- BRATS_140: enfatizza che la multimodalità non è sempre benefica, se una modalità introduce informazione fuorviante.
- BRATS_380: evidenzia il limite strutturale dei metodi region-based quando la lesione è piccola e poco saliente.
[Sources]
- 140_comparison_results.png
- 380_comparison_results.png
- detailed.csv
- image_processing_report.pdf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 orale:
- Questa slide è la chiusura: non introdurre cose nuove, ma lascia tre messaggi forti e semplici.
- Chiudi con una frase sull’interpretabilità: è il vero valore aggiunto del progetto rispetto a una black box.
- Se resta tempo, cita rapidamente gli sviluppi futuri; se sei lungo, taglia questa parte e vai alla frase finale.
[Sources]
- image_processing_report.pdf
- global.csv
- detailed.csv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Segmentazione di Tumori Cerebrali in Immagini MRI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5B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comparativa tra approccio monomodale e multimodale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d'anno in Image Processing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Politecnico di Bari — A.A. 2025/2026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Roberto Carriero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3621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Messaggio chiave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Mostro come una pipeline classica, trasparente e interamente in MATLAB riesca a ottenere buoni risultati, soprattutto quando integra più sequenze MRI.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914400"/>
            <a:ext cx="4526280" cy="489204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635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248_comparis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2063024"/>
            <a:ext cx="4297680" cy="2585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questo problema è rilevante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Contesto clinico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75488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segmentazione manuale del tumore è lenta, soggettiva e poco riproducibile.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bordi dei gliomi sono spesso sfumati: il basso contrasto rende difficile la delineazione.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algoritmo automatico può supportare pianificazione, monitoraggio e confronto oggettivo.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9469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 del progetto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2852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Validare una pipeline 2D automatizzata basata su Otsu multilivello, Region Growing con seme automatico e Watershed marcato, confrontando sequenze singole e fusioni multimodali.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0" y="1143000"/>
            <a:ext cx="557784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a_flowchart_diagram_of_a_brain_tumor_mri_segment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272" y="1216152"/>
            <a:ext cx="3206496" cy="4809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16752" y="615391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d’insieme della pipeline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BraTS e impostazione sperimentale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14300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Raw_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1702570"/>
            <a:ext cx="5157216" cy="31053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73952" y="542239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Esempio di slice con le 4 sequenze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" y="114300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508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417320"/>
            <a:ext cx="48463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484 pazienti annotati
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Task01_BrainTumor del Medical Segmentation Decathlon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Volumi MRI 3D registrati e skull-stripped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Dimensione uniforme: 240 × 240 × 155 voxel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Quattro modalità: FLAIR, T1, T1c, T2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truth binarizzata: tumore vs non tumore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2F855A"/>
                </a:solidFill>
              </a:rPr>
              <a:t>Pipeline 2D slice-based con selezione automatica della slice migliore e confronto tra 5 configurazioni.</a:t>
            </a:r>
            <a:endParaRPr lang="en-US" sz="1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sequenze MRI non dicono la stessa cosa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Ruolo informativo delle diverse modalità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754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FLAIR: evidenzia edema e estensione complessiva della lesione.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T1c: evidenzia soprattutto la componente attiva/enhancing.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T2: è sensibile ai fluidi e aiuta a descrivere l’area patologica.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T1: utile come riferimento anatomico, meno utile nella fusione per la segmentazione.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764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Perché la fusione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51023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</a:rPr>
              <a:t>L’idea è combinare informazioni complementari: FLAIR fornisce contesto, T1c aumenta la specificità, T2 aiuta a stabilizzare la localizzazione.</a:t>
            </a:r>
            <a:endParaRPr lang="en-US" sz="1680" dirty="0"/>
          </a:p>
        </p:txBody>
      </p:sp>
      <p:pic>
        <p:nvPicPr>
          <p:cNvPr id="10" name="Image 0" descr="/mnt/data/Raw_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106333"/>
            <a:ext cx="5532120" cy="3331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 generale della pipeline</a:t>
            </a:r>
            <a:endParaRPr lang="en-US" sz="2400" dirty="0"/>
          </a:p>
        </p:txBody>
      </p:sp>
      <p:pic>
        <p:nvPicPr>
          <p:cNvPr id="4" name="Image 0" descr="/mnt/data/a_flowchart_diagram_of_a_brain_tumor_mri_segment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005840"/>
            <a:ext cx="365760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097280"/>
            <a:ext cx="5029200" cy="530352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1228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Logica del flusso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12280" y="1691640"/>
            <a:ext cx="438912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EDA: capire le sequenze e le distribuzioni di intensità.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Pre-processing: rendere le immagini confrontabili e creare le fusioni.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Segmentazione: Otsu → Region Growing → Watershed marcato.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Post-processing: regolarizzare contorni e rimuovere componenti spurie.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Valutazione: Dice, Sensitivity e Precision su tutto il dataset.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12280" y="544068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54955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Take-away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57881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</a:rPr>
              <a:t>La pipeline è interamente interpretabile: ogni blocco ha un ruolo chiaro e osservabile nei risultati intermedi.</a:t>
            </a:r>
            <a:endParaRPr lang="en-US" sz="1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Implementazione in MATLAB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16324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main.m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3320" y="14447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coordina l’intera pipeline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1435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2D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94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data_exploration.m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21762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EDA e visualizzazioni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21671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2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9260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pre_processing.m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9077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slice, normalizzazione, fusioni, seed map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28986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2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576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segmentation.m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3320" y="36393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Otsu + RG + Watershed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3240" y="36301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2D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389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post_processing.m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03320" y="43708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operazioni morfologiche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63240" y="43616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2D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120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evaluation.m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03320" y="51023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Dice, Sensitivity, Precision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26880" y="1325880"/>
            <a:ext cx="192024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8048" y="1572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Output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36608" y="1920240"/>
            <a:ext cx="1463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intermedie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maschere finali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results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metriche in CSV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capire le sequenze prima di segmentare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864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Raw_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98970"/>
            <a:ext cx="5340096" cy="3215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833872"/>
            <a:ext cx="5340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Sequenze grezze + istogrammi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234440"/>
            <a:ext cx="530352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CLAHE_sequen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954030"/>
            <a:ext cx="5157216" cy="31053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36792" y="583387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CLAHE + distribuzioni di intensità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49808" y="607161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Le sequenze hanno range e pattern diversi; CLAHE migliora la leggibilità ma non entra direttamente nella pipeline finale di segmentazione.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Pre-processing: dalle immagini grezze a input confrontabili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1234440"/>
            <a:ext cx="516636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13_FLAIR_pre_proce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766725"/>
            <a:ext cx="5020056" cy="30227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82512" y="5376672"/>
            <a:ext cx="5020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Esempio sulla sequenza FLAIR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1417320"/>
            <a:ext cx="480060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Selezione automatica della slice con massima estensione tumorale nella ground truth.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Costruzione della maschera cerebrale a partire da FLAIR.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Normalizzazione Z-score all’interno del cervello.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Azzeramento del background e mappatura in [0,1].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mediano 3×3 per ridurre rumore e preservare contorni.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04672" y="55321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Se non normalizzo e denoiso, Otsu e Region Growing diventano molto più instabili tra pazienti e tra sequenze.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Fusioni multimodali: come costruisco Fusion2 e Fusion3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13_Fusion2_pre_proce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93230"/>
            <a:ext cx="5340096" cy="3215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330952"/>
            <a:ext cx="5340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Fusion2 = 0.6·FLAIR + 0.4·T1c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32588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13_Fusion3_pre_proce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748290"/>
            <a:ext cx="5157216" cy="31053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36792" y="533095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Fusion3 = 0.5·FLAIR + 0.2·T1c + 0.3·T2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2960" y="53218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Pesi scelti per privilegiare estensione (FLAIR), specificità (T1c) e stabilità spaziale (T2).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Seed map e scelta empirica di $sigma$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383280" cy="40233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13_seed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89261"/>
            <a:ext cx="3236976" cy="19491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102352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map da Fusion3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51960" y="1280160"/>
            <a:ext cx="7269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sigma_d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353312"/>
            <a:ext cx="6035040" cy="3621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5112" y="5102352"/>
            <a:ext cx="7123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 medio al variare di σ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2960" y="52578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Scelta finale: σ = 3. La seed map guida il seme verso la regione a intensità globale più elevata.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Segmentazione a cascata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937760" cy="50292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824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Otsu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Segmentazione iniziale tramite sogliatura multilivello: separa regioni di intensità diverse massimizzando la varianza inter-classe.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9352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Region Growing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264408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Parte da un seme automatico e cresce sui pixel con intensità superiore a una soglia adattiva: percentile 6 delle intensità in $M_{Otsu}$.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5262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5811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Watershed marcato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Rifinisce il contorno della componente già trovata, riducendo l’over-segmentation grazie ai marker espliciti derivati dal Region Growing.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06440" y="1325880"/>
            <a:ext cx="557784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/mnt/data/218_Fusion3_segm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2078554"/>
            <a:ext cx="5431536" cy="32678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79592" y="615391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Esempio: step intermedi su Fusion3 del caso rappresentativo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Scelte progettuali da saper motivare all’orale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653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Percentile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soglia adattiva per il Region Growing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scelto empiricamente per massimizzare il Dice medio senza crescita eccessiva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55448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810512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8653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Niente T1 nella fusione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312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T1 utile come riferimento anatomico, ma meno informativa per la regione tumorale rispetto a FLAIR/T1c/T2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66760" y="155448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9640" y="1810512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18653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Approccio 2D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22792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più controllabile e interpretabile; la slice è selezionata automaticamente come quella con massima area tumorale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577840"/>
            <a:ext cx="10607040" cy="50292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6967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Questa slide serve a prevenire le domande più probabili: perché 2D, perché questi parametri, perché T1 resta fuori dalla fusione.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rappresentativo: paziente BRATS_218 — configurazioni monomodali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38404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218_FLAIR_segm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61839"/>
            <a:ext cx="3511296" cy="2112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496519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FLAIR: buona estensione, ma regioni spurie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43400" y="1325880"/>
            <a:ext cx="3657600" cy="38404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218_T1c_segmen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061839"/>
            <a:ext cx="3511296" cy="2112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16552" y="496519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T1c: localizzazione debole, segmentazione insufficiente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46720" y="132588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mnt/data/218_T2_segment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103100"/>
            <a:ext cx="3374136" cy="20300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19872" y="4965192"/>
            <a:ext cx="3374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T2: regione più compatta ma ancora incompleta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22960" y="513892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F2937"/>
                </a:solidFill>
              </a:rPr>
              <a:t>Le sequenze singole catturano aspetti diversi della lesione; nessuna offre sempre il miglior equilibrio tra estensione, pulizia e localizzazione.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rappresentativo: paziente BRATS_218 — fusioni e post-processing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38404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218_Fusion2_segm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61839"/>
            <a:ext cx="3511296" cy="2112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496519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Fusion2: migliora rispetto alle sequenze singole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43400" y="1325880"/>
            <a:ext cx="3657600" cy="38404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218_Fusion3_segmen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061839"/>
            <a:ext cx="3511296" cy="2112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16552" y="496519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Fusion3: maschera più equilibrata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46720" y="132588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mnt/data/218_Fusion3_post_proce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103100"/>
            <a:ext cx="3374136" cy="20300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19872" y="4965192"/>
            <a:ext cx="3374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Post-processing: contorno regolarizzato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22960" y="513892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F2937"/>
                </a:solidFill>
              </a:rPr>
              <a:t>La multimodalità rende Otsu più selettivo, guida meglio il seed e lascia al post-processing un compito di sola pulizia.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 valuto la qualità della segmentazione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9728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Metriche usate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103120"/>
            <a:ext cx="2971800" cy="914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3291840"/>
            <a:ext cx="3291840" cy="914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4480560"/>
            <a:ext cx="2926080" cy="914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440" y="1920240"/>
            <a:ext cx="621792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Dice: misura la sovrapposizione complessiva tra predizione e ground truth.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Sensitivity: quanto tumore reale riesco a recuperare.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Precision: quanto contengo i falsi positivi.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tutte e tre perché una sola metrica non basta a descrivere il comportamento della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Risultati globali sull’intero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9728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91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Configurazione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6916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83480" y="1691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Sens.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Prec.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2057400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488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FLAIR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2148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0.795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6048" y="2148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0.765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148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0.900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2587752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679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T1c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94760" y="26791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0.195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6048" y="26791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0.178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6791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0.886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" y="3118104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2095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94760" y="3209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0.520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6048" y="3209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0.428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3209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0.893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0120" y="3648456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37398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Fusion2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94760" y="37398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0.755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56048" y="37398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0.767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72200" y="37398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0.842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0120" y="4178808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270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Fusion3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794760" y="4270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0.806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56048" y="4270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0.744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72200" y="4270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0.935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35240" y="16459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80960" y="17007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Lettura del risultato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3524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Fusion3 è la migliore in media.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FLAIR da sola resta sorprendentemente competitiva.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T1c è molto precisa ma spesso incompleta.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multimodalità migliora soprattutto robustezza e localizzazione.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63524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Messaggio chiave: il guadagno della multimodalità è reale, ma non uniforme su tutti i pazienti.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Quattro casi rappresentativi scelti da detailed.csv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5563"/>
                </a:solidFill>
              </a:rPr>
              <a:t>Selezione basata sul Dice di Fusion3: due migliori e due peggiori casi.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97280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Paziente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FLAIR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3192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T1c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T2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89788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Fusion2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Fusion3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5820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Sens. F3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4692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Prec. F3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1993392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7568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BRATS_128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2608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0.879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3192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0.048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0.645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9788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0.318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0.963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820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0.974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46920" y="20756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0.952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" y="2468880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551176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BRATS_248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92608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0.974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93192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0.534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4632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0.396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9788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0.967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3232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0.963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5820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0.933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46920" y="25511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0.996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68680" y="2944368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026664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BRATS_140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92608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0.271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93192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84632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0.002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89788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0.680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13232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53030"/>
                </a:solidFill>
              </a:rPr>
              <a:t>0.000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45820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646920" y="30266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68680" y="3419856"/>
            <a:ext cx="914400" cy="914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50215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BRATS_380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292608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393192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84632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89788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713232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53030"/>
                </a:solidFill>
              </a:rPr>
              <a:t>0.000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45820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646920" y="35021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0.000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868680" y="4434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</a:rPr>
              <a:t>BRATS_128 corregge una T1c fuorviante; BRATS_248 è un caso già favorevole; BRATS_140 mostra che la multimodalità può anche peggiorare; BRATS_380 evidenzia un limite strutturale del metodo.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Casi migliori: quando la pipeline funziona bene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5778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128_comparis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67074"/>
            <a:ext cx="5431536" cy="3267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" y="542239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BRATS_128 — Fusion3 recupera una segmentazione corretta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09360" y="1234440"/>
            <a:ext cx="530352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248_comparison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749595"/>
            <a:ext cx="5157216" cy="31027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2512" y="542239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BRATS_248 — caso “facile”, già ben visibile in FLAIR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2960" y="50474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F2937"/>
                </a:solidFill>
              </a:rPr>
              <a:t>Nei casi migliori la lesione è compatta e ben separata: Otsu, seed e Region Growing risultano subito coerenti.</a:t>
            </a:r>
            <a:endParaRPr lang="en-US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Casi peggiori: dove la pipeline mostra i suoi limiti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5778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140_comparis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67074"/>
            <a:ext cx="5431536" cy="3267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" y="542239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BRATS_140 — Fusion3 localizza la regione sbagliata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09360" y="1234440"/>
            <a:ext cx="530352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mnt/data/380_comparison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749595"/>
            <a:ext cx="5157216" cy="31027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2512" y="542239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BRATS_380 — fallimento simultaneo di tutte le configurazioni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2960" y="50474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F2937"/>
                </a:solidFill>
              </a:rPr>
              <a:t>Nei casi peggiori il problema nasce presto: intensità poco separabili, seed non affidabile e crescita su una componente errata.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Conclusioni e sviluppi futuri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5778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36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Tre messaggi finali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9377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classica e interpretabile può ottenere risultati significativi su BraTS.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Fusion3 è la configurazione più efficace in media.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punto debole è la sensibilità a lesioni piccole, poco contrastate o mal localizzate.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66344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7183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Sviluppi futuri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047488"/>
            <a:ext cx="5120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fusione multimodale più avanzata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segmentazione 3D sull’intero volume</a:t>
            </a:r>
            <a:endParaRPr lang="en-US" sz="1580" dirty="0"/>
          </a:p>
          <a:p>
            <a:pPr marL="177800" indent="-177800">
              <a:buSzPct val="100000"/>
              <a:buChar char="•"/>
            </a:pPr>
            <a:r>
              <a:rPr lang="en-US" sz="15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confronto con K-Means, Canny/Sobel, edge-based, ML e deep learning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6492240" y="1234440"/>
            <a:ext cx="5074920" cy="5074920"/>
          </a:xfrm>
          <a:prstGeom prst="roundRect">
            <a:avLst>
              <a:gd name="adj" fmla="val 108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Come chiudere oralmente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219456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</a:rPr>
              <a:t>“Il contributo del lavoro non è solo il numero finale, ma la comprensione del perché la segmentazione migliori o peggiori al variare delle sequenze e dei blocchi della pipeline.”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12280" y="4754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Se il professore fa domande, torna su tre idee: interpretabilità, ruolo della multimodalità, limiti strutturali.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Segmentazione di Tumori Cerebrali in Immagini MRI</dc:title>
  <dc:subject>Presentazione progetto Image Processing</dc:subject>
  <dc:creator>OpenAI</dc:creator>
  <cp:lastModifiedBy>OpenAI</cp:lastModifiedBy>
  <cp:revision>1</cp:revision>
  <dcterms:created xsi:type="dcterms:W3CDTF">2026-04-03T11:14:31Z</dcterms:created>
  <dcterms:modified xsi:type="dcterms:W3CDTF">2026-04-03T11:14:31Z</dcterms:modified>
</cp:coreProperties>
</file>